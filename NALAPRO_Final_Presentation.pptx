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6" r:id="rId7"/>
    <p:sldId id="261" r:id="rId8"/>
    <p:sldId id="267" r:id="rId9"/>
    <p:sldId id="262" r:id="rId10"/>
    <p:sldId id="268" r:id="rId11"/>
    <p:sldId id="263" r:id="rId12"/>
    <p:sldId id="269" r:id="rId13"/>
    <p:sldId id="264" r:id="rId14"/>
    <p:sldId id="265"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3718" autoAdjust="0"/>
  </p:normalViewPr>
  <p:slideViewPr>
    <p:cSldViewPr snapToGrid="0" snapToObjects="1">
      <p:cViewPr>
        <p:scale>
          <a:sx n="75" d="100"/>
          <a:sy n="75" d="100"/>
        </p:scale>
        <p:origin x="1020"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barChart>
        <c:barDir val="col"/>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7.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2983790E-2984-7E63-C587-7327F5F14B95}"/>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1786639" cy="4480569"/>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7775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KE" sz="1200" kern="1200" dirty="0">
                <a:solidFill>
                  <a:schemeClr val="tx1"/>
                </a:solidFill>
                <a:effectLst/>
                <a:latin typeface="+mn-lt"/>
                <a:ea typeface="+mn-ea"/>
                <a:cs typeface="+mn-cs"/>
              </a:rPr>
              <a:t>The dataset is 20 Newsgroups — about 19,000 internet forum posts from the early 90s covering topics like sports, computers, religion and politics. I split it into 11,314 training and 7,532 test samples. I removed headers, footers and quotes so the model learns from content only — not metadata like the sender's email address.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task is simple to state: given a post, predict which of 20 categories it belongs to — things like sports, computers, religion, politics. I removed headers, footers and quotes from every document so the model genuinely learns from the content, not from metadata like the sender's email address. It's a multi-class classification problem with exactly one label per document</a:t>
            </a:r>
          </a:p>
          <a:p>
            <a:endParaRPr lang="en-GB" dirty="0"/>
          </a:p>
          <a:p>
            <a:r>
              <a:rPr lang="en-GB" b="1" dirty="0"/>
              <a:t>why remove headers:</a:t>
            </a:r>
            <a:r>
              <a:rPr lang="en-GB" dirty="0"/>
              <a:t> </a:t>
            </a:r>
            <a:r>
              <a:rPr lang="en-GB" i="1" dirty="0"/>
              <a:t>"Because headers contain the newsgroup name — leaving them in would be cheating. The model would just read the category directly instead of learning from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ran the 4 tasks in total. </a:t>
            </a:r>
          </a:p>
          <a:p>
            <a:r>
              <a:rPr lang="en-GB" dirty="0"/>
              <a:t>Tasks 1a through 1d all use the same neural network but with different ways of converting text to numbers.</a:t>
            </a:r>
          </a:p>
          <a:p>
            <a:r>
              <a:rPr lang="en-GB" dirty="0"/>
              <a:t> </a:t>
            </a:r>
          </a:p>
          <a:p>
            <a:r>
              <a:rPr lang="en-GB" dirty="0"/>
              <a:t>Then BERT fine-tuning, BERT with an extra MLM pretraining stage, Llama-3 prompting with zero-shot and few-shot, </a:t>
            </a:r>
          </a:p>
          <a:p>
            <a:r>
              <a:rPr lang="en-GB" dirty="0"/>
              <a:t>and as a bonus, Llama-3 fine-tuned with </a:t>
            </a:r>
            <a:r>
              <a:rPr lang="en-GB" dirty="0" err="1"/>
              <a:t>QLoRA</a:t>
            </a:r>
            <a:r>
              <a:rPr lang="en-GB" dirty="0"/>
              <a:t> adapters</a:t>
            </a:r>
          </a:p>
          <a:p>
            <a:endParaRPr lang="en-GB" dirty="0"/>
          </a:p>
          <a:p>
            <a:r>
              <a:rPr lang="en-GB" dirty="0"/>
              <a:t>Extra experiment:</a:t>
            </a:r>
          </a:p>
          <a:p>
            <a:r>
              <a:rPr lang="en-GB" dirty="0"/>
              <a:t>I chained them like a pipeline — TF-IDF with bigrams first converted each document into a 20,000-dimensional vector where each position represents either a single word or a two-word phrase like "hard drive" or "space shuttle" and its importance score. </a:t>
            </a:r>
          </a:p>
          <a:p>
            <a:r>
              <a:rPr lang="en-GB" dirty="0"/>
              <a:t>That vector is massive and mostly zeros, so LSA then compressed it down to just 300 dense dimensions by finding the most important patterns and discarding the rest. </a:t>
            </a:r>
          </a:p>
          <a:p>
            <a:r>
              <a:rPr lang="en-GB" dirty="0"/>
              <a:t>The neural network then receives those 300 numbers as input instead of 20,000. So it's not three separate experiments merged together — it's one continuous process where each step feeds into the next.</a:t>
            </a:r>
          </a:p>
          <a:p>
            <a:endParaRPr lang="en-GB" dirty="0"/>
          </a:p>
          <a:p>
            <a:r>
              <a:rPr lang="en-GB" dirty="0"/>
              <a:t>LSA - a compression technique that takes a large sparse matrix and squashes it down to a smaller dense one by keeping only the most important patterns and throwing away the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The network is fixed for all of Task 1 — two linear layers with a </a:t>
            </a:r>
            <a:r>
              <a:rPr lang="en-GB" i="1" dirty="0" err="1"/>
              <a:t>ReLU</a:t>
            </a:r>
            <a:r>
              <a:rPr lang="en-GB" i="1" dirty="0"/>
              <a:t> activation in between. The input size changes depending on the vectorization method: 100 dimensions for Word2Vec, 5,000 for TF-IDF, 300 for LSA, </a:t>
            </a:r>
            <a:r>
              <a:rPr lang="fr-CH" dirty="0"/>
              <a:t>Latent Semantic Analysis (LSA)</a:t>
            </a:r>
            <a:r>
              <a:rPr lang="en-GB" i="1" dirty="0"/>
              <a:t>. All of them go through 256 hidden units then output 20 scores — one per class. Whichever score is highest is the predicted category.“ </a:t>
            </a:r>
            <a:endParaRPr lang="en-GB" dirty="0"/>
          </a:p>
          <a:p>
            <a:r>
              <a:rPr lang="en-GB" b="1" dirty="0"/>
              <a:t>If asked what </a:t>
            </a:r>
            <a:r>
              <a:rPr lang="en-GB" b="1" dirty="0" err="1"/>
              <a:t>ReLU</a:t>
            </a:r>
            <a:r>
              <a:rPr lang="en-GB" b="1" dirty="0"/>
              <a:t> does:</a:t>
            </a:r>
            <a:r>
              <a:rPr lang="en-GB" dirty="0"/>
              <a:t> </a:t>
            </a:r>
            <a:r>
              <a:rPr lang="en-GB" i="1" dirty="0"/>
              <a:t>"</a:t>
            </a:r>
            <a:r>
              <a:rPr lang="en-GB" i="1" dirty="0" err="1"/>
              <a:t>ReLU</a:t>
            </a:r>
            <a:r>
              <a:rPr lang="en-GB" i="1" dirty="0"/>
              <a:t> is just max(0, x) — it sets negative values to zero. Without it, two linear layers are mathematically identical to one, so the network can't learn complex patterns."</a:t>
            </a:r>
            <a:endParaRPr lang="en-GB" dirty="0"/>
          </a:p>
          <a:p>
            <a:r>
              <a:rPr lang="en-GB" b="1" dirty="0"/>
              <a:t>If asked why TF-IDF has 5,000 dimensions:</a:t>
            </a:r>
            <a:r>
              <a:rPr lang="en-GB" dirty="0"/>
              <a:t> </a:t>
            </a:r>
            <a:r>
              <a:rPr lang="en-GB" i="1" dirty="0"/>
              <a:t>"The TF-IDF vectorizer keeps the 5,000 most informative words from the vocabulary. Each document becomes a vector of 5,000 importance scores — one per word</a:t>
            </a:r>
            <a:endParaRPr lang="en-GB"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I trained Word2Vec for 1 epoch and 10 epochs and visualised the top 200 words using PCA — reducing from 100 dimensions down to 2 so we can see them. </a:t>
            </a:r>
          </a:p>
          <a:p>
            <a:r>
              <a:rPr lang="en-GB" i="1" dirty="0"/>
              <a:t>After 1 epoch on the left, the words are tightly clustered in the centre — the model hasn't trained enough to separate them meaningfully.</a:t>
            </a:r>
          </a:p>
          <a:p>
            <a:endParaRPr lang="en-GB" i="1" dirty="0"/>
          </a:p>
          <a:p>
            <a:r>
              <a:rPr lang="en-GB" i="1" dirty="0"/>
              <a:t> After 10 epochs on the right, the vectors spread out and words move to more distinct positions. </a:t>
            </a:r>
          </a:p>
          <a:p>
            <a:r>
              <a:rPr lang="en-GB" i="1" dirty="0"/>
              <a:t>The mean cosine shift of 0.6876 confirms the vectors moved significantly — so more training genuinely changes what the model learned about word relationships."</a:t>
            </a:r>
            <a:endParaRPr lang="en-GB" dirty="0"/>
          </a:p>
          <a:p>
            <a:r>
              <a:rPr lang="en-GB" b="1" dirty="0"/>
              <a:t>If asked why PCA:</a:t>
            </a:r>
            <a:r>
              <a:rPr lang="en-GB" dirty="0"/>
              <a:t> </a:t>
            </a:r>
            <a:r>
              <a:rPr lang="en-GB" i="1" dirty="0"/>
              <a:t>"PCA finds the two directions of maximum variance in the data and projects everything onto them. We stack both models' vectors together before reducing so they share the same coordinate system — otherwise the plots wouldn't be comparable</a:t>
            </a:r>
            <a:endParaRPr lang="en-GB"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KE" dirty="0"/>
          </a:p>
        </p:txBody>
      </p:sp>
    </p:spTree>
    <p:extLst>
      <p:ext uri="{BB962C8B-B14F-4D97-AF65-F5344CB8AC3E}">
        <p14:creationId xmlns:p14="http://schemas.microsoft.com/office/powerpoint/2010/main" val="3243858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i="1" dirty="0"/>
              <a:t>For Task 2 I used </a:t>
            </a:r>
            <a:r>
              <a:rPr lang="en-GB" i="1" dirty="0" err="1"/>
              <a:t>bert</a:t>
            </a:r>
            <a:r>
              <a:rPr lang="en-GB" i="1" dirty="0"/>
              <a:t>-base-uncased — 110 million parameters already pretrained on Wikipedia and </a:t>
            </a:r>
            <a:r>
              <a:rPr lang="en-GB" i="1" dirty="0" err="1"/>
              <a:t>BookCorpus</a:t>
            </a:r>
            <a:r>
              <a:rPr lang="en-GB" i="1" dirty="0"/>
              <a:t>. </a:t>
            </a:r>
          </a:p>
          <a:p>
            <a:r>
              <a:rPr lang="en-GB" i="1" dirty="0"/>
              <a:t>I added a classification head on top of the CLS token and fine-tuned the whole model for 3 epochs. </a:t>
            </a:r>
          </a:p>
          <a:p>
            <a:endParaRPr lang="en-GB" i="1" dirty="0"/>
          </a:p>
          <a:p>
            <a:r>
              <a:rPr lang="en-GB" i="1" dirty="0"/>
              <a:t>The learning rate is very small at 2e-5 because BERT's weights are already good — a large learning rate would destroy the pretrained knowledge. </a:t>
            </a:r>
          </a:p>
          <a:p>
            <a:endParaRPr lang="en-GB" i="1" dirty="0"/>
          </a:p>
          <a:p>
            <a:r>
              <a:rPr lang="en-GB" i="1" dirty="0"/>
              <a:t>I also used a warmup scheduler that starts the learning rate at zero and gradually increases it for the first 10% of steps to protect the weights early on. Gradient clipping at 1.0 prevents any single batch from causing a destructive update. Final result: 0.698.“</a:t>
            </a:r>
          </a:p>
          <a:p>
            <a:endParaRPr lang="en-GB" dirty="0"/>
          </a:p>
          <a:p>
            <a:r>
              <a:rPr lang="en-GB" b="1" dirty="0"/>
              <a:t>If asked why only 3 epochs:</a:t>
            </a:r>
            <a:r>
              <a:rPr lang="en-GB" dirty="0"/>
              <a:t> </a:t>
            </a:r>
            <a:r>
              <a:rPr lang="en-GB" i="1" dirty="0"/>
              <a:t>"BERT is already pretrained on billions of words — it doesn't need many passes to adapt. More epochs risk overfitting on the 11,000 training samples.</a:t>
            </a:r>
          </a:p>
          <a:p>
            <a:endParaRPr lang="en-GB" i="1" dirty="0"/>
          </a:p>
          <a:p>
            <a:r>
              <a:rPr lang="en-KE" sz="1200" kern="1200" dirty="0">
                <a:solidFill>
                  <a:schemeClr val="tx1"/>
                </a:solidFill>
                <a:effectLst/>
                <a:latin typeface="+mn-lt"/>
                <a:ea typeface="+mn-ea"/>
                <a:cs typeface="+mn-cs"/>
              </a:rPr>
              <a:t>EPOCHS=3 — BERT is already pretrained on billions of words so it doesn't need many epochs to adapt. 3 is standard — more risks overfitting.</a:t>
            </a:r>
          </a:p>
          <a:p>
            <a:r>
              <a:rPr lang="en-KE" sz="1200" kern="1200" dirty="0">
                <a:solidFill>
                  <a:schemeClr val="tx1"/>
                </a:solidFill>
                <a:effectLst/>
                <a:latin typeface="+mn-lt"/>
                <a:ea typeface="+mn-ea"/>
                <a:cs typeface="+mn-cs"/>
              </a:rPr>
              <a:t>BATCH_SIZE=16 — lower than Task 1's 64 because BERT is huge and each document takes much more GPU memory than a simple vector.</a:t>
            </a:r>
          </a:p>
          <a:p>
            <a:r>
              <a:rPr lang="en-KE" sz="1200" kern="1200" dirty="0">
                <a:solidFill>
                  <a:schemeClr val="tx1"/>
                </a:solidFill>
                <a:effectLst/>
                <a:latin typeface="+mn-lt"/>
                <a:ea typeface="+mn-ea"/>
                <a:cs typeface="+mn-cs"/>
              </a:rPr>
              <a:t>LR=2e-5 — much smaller than Task 1's 0.001. </a:t>
            </a:r>
            <a:r>
              <a:rPr lang="en-KE" sz="1200" kern="1200" dirty="0" err="1">
                <a:solidFill>
                  <a:schemeClr val="tx1"/>
                </a:solidFill>
                <a:effectLst/>
                <a:latin typeface="+mn-lt"/>
                <a:ea typeface="+mn-ea"/>
                <a:cs typeface="+mn-cs"/>
              </a:rPr>
              <a:t>BERT's</a:t>
            </a:r>
            <a:r>
              <a:rPr lang="en-KE" sz="1200" kern="1200" dirty="0">
                <a:solidFill>
                  <a:schemeClr val="tx1"/>
                </a:solidFill>
                <a:effectLst/>
                <a:latin typeface="+mn-lt"/>
                <a:ea typeface="+mn-ea"/>
                <a:cs typeface="+mn-cs"/>
              </a:rPr>
              <a:t> weights are already good from pretraining — a large learning rate would destroy them. 2e-5 nudges them gently toward the new task.</a:t>
            </a:r>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Task 3 adds a stage before classification. </a:t>
            </a:r>
          </a:p>
          <a:p>
            <a:r>
              <a:rPr lang="en-GB" dirty="0"/>
              <a:t>In Stage 1, I ran BERT's original masked language </a:t>
            </a:r>
            <a:r>
              <a:rPr lang="en-GB" dirty="0" err="1"/>
              <a:t>modeling</a:t>
            </a:r>
            <a:r>
              <a:rPr lang="en-GB" dirty="0"/>
              <a:t> on all 18,846 newsgroup documents — masking 15% of tokens and training BERT to predict them.</a:t>
            </a:r>
          </a:p>
          <a:p>
            <a:endParaRPr lang="en-GB" dirty="0"/>
          </a:p>
          <a:p>
            <a:r>
              <a:rPr lang="en-GB" dirty="0"/>
              <a:t>No labels needed, the text teaches itself. The MLM loss dropped from 2.46 to 2.30 over 2 epochs. </a:t>
            </a:r>
          </a:p>
          <a:p>
            <a:endParaRPr lang="en-GB" dirty="0"/>
          </a:p>
          <a:p>
            <a:r>
              <a:rPr lang="en-GB" dirty="0"/>
              <a:t>Then in Stage 2 I loaded those adapted weights and ran the same classification fine-tuning as Task 2. </a:t>
            </a:r>
          </a:p>
          <a:p>
            <a:r>
              <a:rPr lang="en-GB" b="1" dirty="0"/>
              <a:t>CLS stands for Classification token.</a:t>
            </a:r>
            <a:endParaRPr lang="en-GB" dirty="0"/>
          </a:p>
          <a:p>
            <a:r>
              <a:rPr lang="en-GB" dirty="0"/>
              <a:t>It's a special token that BERT automatically adds to the very beginning of every input</a:t>
            </a:r>
          </a:p>
          <a:p>
            <a:endParaRPr lang="en-GB" dirty="0"/>
          </a:p>
          <a:p>
            <a:r>
              <a:rPr lang="en-GB" dirty="0"/>
              <a:t>The reason this helps is that standard BERT was trained on Wikipedia — formal, clean text. Newsgroup posts have technical jargon and internet language BERT has never seen. The MLM stage adapts its vocabulary before classification, which is why we went from 0.698 to 0.710</a:t>
            </a:r>
          </a:p>
          <a:p>
            <a:endParaRPr lang="en-GB" dirty="0"/>
          </a:p>
          <a:p>
            <a:r>
              <a:rPr lang="en-GB" sz="1200" b="1" kern="1200" dirty="0" err="1">
                <a:solidFill>
                  <a:schemeClr val="tx1"/>
                </a:solidFill>
                <a:latin typeface="+mn-lt"/>
                <a:ea typeface="+mn-ea"/>
                <a:cs typeface="+mn-cs"/>
              </a:rPr>
              <a:t>mlm_probability</a:t>
            </a:r>
            <a:r>
              <a:rPr lang="en-GB" sz="1200" b="1" kern="1200" dirty="0">
                <a:solidFill>
                  <a:schemeClr val="tx1"/>
                </a:solidFill>
                <a:latin typeface="+mn-lt"/>
                <a:ea typeface="+mn-ea"/>
                <a:cs typeface="+mn-cs"/>
              </a:rPr>
              <a:t>=0.15</a:t>
            </a:r>
            <a:r>
              <a:rPr lang="en-GB" dirty="0"/>
              <a:t> — masks 15% of tokens per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Task 4 uses a completely different approach — no training at all. </a:t>
            </a:r>
          </a:p>
          <a:p>
            <a:endParaRPr lang="en-GB" dirty="0"/>
          </a:p>
          <a:p>
            <a:r>
              <a:rPr lang="en-GB" dirty="0"/>
              <a:t>I loaded Llama-3 8B in 4-bit quantization to fit in GPU memory and just prompted it. </a:t>
            </a:r>
          </a:p>
          <a:p>
            <a:endParaRPr lang="en-GB" dirty="0"/>
          </a:p>
          <a:p>
            <a:r>
              <a:rPr lang="en-GB" dirty="0"/>
              <a:t>Zero-shot: give the text and 20 class names, ask it to choose — result 0.255, which is 5 times better than random guessing but still low because 20 categories is hard without any training. </a:t>
            </a:r>
          </a:p>
          <a:p>
            <a:r>
              <a:rPr lang="en-GB" dirty="0"/>
              <a:t>So it's not totally clueless, it has general knowledge from training on the internet, but it's never specifically practiced this task so it struggles.</a:t>
            </a:r>
          </a:p>
          <a:p>
            <a:endParaRPr lang="en-GB" dirty="0"/>
          </a:p>
          <a:p>
            <a:r>
              <a:rPr lang="en-GB" dirty="0"/>
              <a:t>Few-shot gave 0.430 by providing one example per class in the prompt — the examples helped the model understand the pattern. </a:t>
            </a:r>
          </a:p>
          <a:p>
            <a:endParaRPr lang="en-GB" dirty="0"/>
          </a:p>
          <a:p>
            <a:r>
              <a:rPr lang="en-GB" dirty="0"/>
              <a:t>The </a:t>
            </a:r>
            <a:r>
              <a:rPr lang="en-GB" dirty="0" err="1"/>
              <a:t>QLoRA</a:t>
            </a:r>
            <a:r>
              <a:rPr lang="en-GB" dirty="0"/>
              <a:t> bonus fine-tuned </a:t>
            </a:r>
            <a:r>
              <a:rPr lang="en-GB" dirty="0" err="1"/>
              <a:t>LoRA</a:t>
            </a:r>
            <a:r>
              <a:rPr lang="en-GB" dirty="0"/>
              <a:t> adapters on top of Llama-3 — 0.04% of everything you know. It just updated the most relevant parts of it’s knowledge for this specific task. That's what </a:t>
            </a:r>
            <a:r>
              <a:rPr lang="en-GB" dirty="0" err="1"/>
              <a:t>LoRA</a:t>
            </a:r>
            <a:r>
              <a:rPr lang="en-GB" dirty="0"/>
              <a:t> does — instead of retraining all 8 billion parameters which would take forever, it adds small trainable pieces on top and only updates those. </a:t>
            </a:r>
          </a:p>
          <a:p>
            <a:endParaRPr lang="en-GB" dirty="0"/>
          </a:p>
          <a:p>
            <a:r>
              <a:rPr lang="en-GB" dirty="0"/>
              <a:t>Result: 64.5% — way better than just winging it with prompting which shows that even minimal task-specific training dramatically outperforms pure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GB" sz="1200" b="1" kern="1200" dirty="0">
                <a:solidFill>
                  <a:schemeClr val="tx1"/>
                </a:solidFill>
                <a:latin typeface="+mn-lt"/>
                <a:ea typeface="+mn-ea"/>
                <a:cs typeface="+mn-cs"/>
              </a:rPr>
              <a:t>text[:300]</a:t>
            </a:r>
            <a:r>
              <a:rPr lang="en-GB" dirty="0"/>
              <a:t> — how many characters of the document you feed in.</a:t>
            </a:r>
          </a:p>
          <a:p>
            <a:r>
              <a:rPr lang="en-GB" dirty="0"/>
              <a:t>Increase to 500: model sees more context, potentially better accuracy</a:t>
            </a:r>
          </a:p>
          <a:p>
            <a:endParaRPr lang="en-GB" dirty="0"/>
          </a:p>
          <a:p>
            <a:r>
              <a:rPr lang="en-GB" sz="1200" b="1" kern="1200" dirty="0" err="1">
                <a:solidFill>
                  <a:schemeClr val="tx1"/>
                </a:solidFill>
                <a:latin typeface="+mn-lt"/>
                <a:ea typeface="+mn-ea"/>
                <a:cs typeface="+mn-cs"/>
              </a:rPr>
              <a:t>max_new_tokens</a:t>
            </a:r>
            <a:r>
              <a:rPr lang="en-GB" sz="1200" b="1" kern="1200" dirty="0">
                <a:solidFill>
                  <a:schemeClr val="tx1"/>
                </a:solidFill>
                <a:latin typeface="+mn-lt"/>
                <a:ea typeface="+mn-ea"/>
                <a:cs typeface="+mn-cs"/>
              </a:rPr>
              <a:t>=20</a:t>
            </a:r>
            <a:r>
              <a:rPr lang="en-GB" dirty="0"/>
              <a:t> — how many tokens Llama can generate in its response</a:t>
            </a:r>
          </a:p>
          <a:p>
            <a:r>
              <a:rPr lang="en-GB" dirty="0"/>
              <a:t>Too low (e.g. 5): model might get cut off mid-answer</a:t>
            </a:r>
          </a:p>
          <a:p>
            <a:endParaRPr lang="en-GB" dirty="0"/>
          </a:p>
          <a:p>
            <a:r>
              <a:rPr lang="en-GB" sz="1200" b="1" kern="1200" dirty="0" err="1">
                <a:solidFill>
                  <a:schemeClr val="tx1"/>
                </a:solidFill>
                <a:latin typeface="+mn-lt"/>
                <a:ea typeface="+mn-ea"/>
                <a:cs typeface="+mn-cs"/>
              </a:rPr>
              <a:t>max_length</a:t>
            </a:r>
            <a:r>
              <a:rPr lang="en-GB" sz="1200" b="1" kern="1200" dirty="0">
                <a:solidFill>
                  <a:schemeClr val="tx1"/>
                </a:solidFill>
                <a:latin typeface="+mn-lt"/>
                <a:ea typeface="+mn-ea"/>
                <a:cs typeface="+mn-cs"/>
              </a:rPr>
              <a:t>=512</a:t>
            </a:r>
            <a:r>
              <a:rPr lang="en-GB" dirty="0"/>
              <a:t> — maximum total prompt length before truncation</a:t>
            </a:r>
          </a:p>
          <a:p>
            <a:endParaRPr lang="en-GB" dirty="0"/>
          </a:p>
          <a:p>
            <a:r>
              <a:rPr lang="en-GB" dirty="0"/>
              <a:t>FOR QLORA</a:t>
            </a:r>
          </a:p>
          <a:p>
            <a:endParaRPr lang="en-GB" dirty="0"/>
          </a:p>
          <a:p>
            <a:r>
              <a:rPr lang="en-GB" sz="1200" b="1" kern="1200" dirty="0">
                <a:solidFill>
                  <a:schemeClr val="tx1"/>
                </a:solidFill>
                <a:latin typeface="+mn-lt"/>
                <a:ea typeface="+mn-ea"/>
                <a:cs typeface="+mn-cs"/>
              </a:rPr>
              <a:t>r=8</a:t>
            </a:r>
            <a:r>
              <a:rPr lang="en-GB" dirty="0"/>
              <a:t> — rank of the </a:t>
            </a:r>
            <a:r>
              <a:rPr lang="en-GB" dirty="0" err="1"/>
              <a:t>LoRA</a:t>
            </a:r>
            <a:r>
              <a:rPr lang="en-GB" dirty="0"/>
              <a:t> adapter matrices, controls how many parameters are trained</a:t>
            </a:r>
          </a:p>
          <a:p>
            <a:r>
              <a:rPr lang="en-GB" dirty="0"/>
              <a:t>Increase to 16 or 32: more trainable parameters, potentially better accuracy but slower</a:t>
            </a:r>
          </a:p>
          <a:p>
            <a:endParaRPr lang="en-KE" dirty="0"/>
          </a:p>
        </p:txBody>
      </p:sp>
    </p:spTree>
    <p:extLst>
      <p:ext uri="{BB962C8B-B14F-4D97-AF65-F5344CB8AC3E}">
        <p14:creationId xmlns:p14="http://schemas.microsoft.com/office/powerpoint/2010/main" val="1755436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Looking at all the results, the winner is BERT with MLM pretraining at 0.710, followed closely by standard BERT at 0.698. </a:t>
            </a:r>
          </a:p>
          <a:p>
            <a:endParaRPr lang="en-GB" dirty="0"/>
          </a:p>
          <a:p>
            <a:r>
              <a:rPr lang="en-GB" dirty="0"/>
              <a:t>What's interesting is that TF-IDF at 0.636 beats Word2Vec at 0.586 — you'd expect the smarter semantic method to win, but for this task the simple word importance scores work better because each newsgroup topic has very specific vocabulary that TF-IDF captures directly. </a:t>
            </a:r>
          </a:p>
          <a:p>
            <a:endParaRPr lang="en-GB" dirty="0"/>
          </a:p>
          <a:p>
            <a:r>
              <a:rPr lang="en-GB" dirty="0"/>
              <a:t>LSA at 0.615 sits between the two — it tried to combine the best of both but the compression lost some useful information. </a:t>
            </a:r>
          </a:p>
          <a:p>
            <a:endParaRPr lang="en-GB" dirty="0"/>
          </a:p>
          <a:p>
            <a:r>
              <a:rPr lang="en-GB" dirty="0"/>
              <a:t>And the biggest story is Llama-3 zero-shot at 0.255 — this is an 8 billion parameter model that loses badly to a much smaller BERT that was simply trained on the right task. </a:t>
            </a:r>
          </a:p>
          <a:p>
            <a:endParaRPr lang="en-GB" dirty="0"/>
          </a:p>
          <a:p>
            <a:r>
              <a:rPr lang="en-GB" dirty="0"/>
              <a:t>That proves that targeted fine-tuning matters far more than raw model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Four lessons. </a:t>
            </a:r>
          </a:p>
          <a:p>
            <a:endParaRPr lang="en-GB" dirty="0"/>
          </a:p>
          <a:p>
            <a:r>
              <a:rPr lang="en-GB" dirty="0"/>
              <a:t>First, fine-tuning beats prompting — task-specific training matters more than model size. </a:t>
            </a:r>
          </a:p>
          <a:p>
            <a:endParaRPr lang="en-GB" dirty="0"/>
          </a:p>
          <a:p>
            <a:r>
              <a:rPr lang="en-GB" dirty="0"/>
              <a:t>Second, TF-IDF beat Word2Vec here because topic vocabulary is a stronger signal than semantic similarity. </a:t>
            </a:r>
          </a:p>
          <a:p>
            <a:endParaRPr lang="en-GB" dirty="0"/>
          </a:p>
          <a:p>
            <a:r>
              <a:rPr lang="en-GB" dirty="0"/>
              <a:t>Third, domain adaptation helped — 2 epochs of MLM gave a free boost from 0.698 to 0.710. </a:t>
            </a:r>
          </a:p>
          <a:p>
            <a:endParaRPr lang="en-GB" dirty="0"/>
          </a:p>
          <a:p>
            <a:r>
              <a:rPr lang="en-GB" dirty="0"/>
              <a:t>And fourth, context window matters — few-shot at 0.430 shows examples help, but you have to engineer your prompts carefully to fit within token limits. </a:t>
            </a:r>
          </a:p>
          <a:p>
            <a:endParaRPr lang="en-GB" dirty="0"/>
          </a:p>
          <a:p>
            <a:r>
              <a:rPr lang="en-GB" dirty="0"/>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65D74-B88F-9B5D-3E96-0DE4A99CE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85AAA-B39B-1967-AAD0-F525831B5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87664-6949-4CA2-D32C-2339CA2FAA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15C460-AA42-2F08-B6C6-A44AA0B4746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39266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E293B"/>
          </a:solidFill>
          <a:ln w="12700">
            <a:solidFill>
              <a:srgbClr val="1E293B"/>
            </a:solidFill>
            <a:prstDash val="solid"/>
          </a:ln>
        </p:spPr>
        <p:txBody>
          <a:bodyPr/>
          <a:lstStyle/>
          <a:p>
            <a:endParaRPr lang="en-KE"/>
          </a:p>
        </p:txBody>
      </p:sp>
      <p:sp>
        <p:nvSpPr>
          <p:cNvPr id="3" name="Shape 1"/>
          <p:cNvSpPr/>
          <p:nvPr/>
        </p:nvSpPr>
        <p:spPr>
          <a:xfrm>
            <a:off x="548639" y="2331720"/>
            <a:ext cx="4311227" cy="45720"/>
          </a:xfrm>
          <a:prstGeom prst="rect">
            <a:avLst/>
          </a:prstGeom>
          <a:solidFill>
            <a:srgbClr val="3B82F6"/>
          </a:solidFill>
          <a:ln w="12700">
            <a:solidFill>
              <a:srgbClr val="3B82F6"/>
            </a:solidFill>
            <a:prstDash val="solid"/>
          </a:ln>
        </p:spPr>
        <p:txBody>
          <a:bodyPr/>
          <a:lstStyle/>
          <a:p>
            <a:endParaRPr lang="en-KE"/>
          </a:p>
        </p:txBody>
      </p:sp>
      <p:sp>
        <p:nvSpPr>
          <p:cNvPr id="4" name="Text 2"/>
          <p:cNvSpPr/>
          <p:nvPr/>
        </p:nvSpPr>
        <p:spPr>
          <a:xfrm>
            <a:off x="548640" y="731520"/>
            <a:ext cx="5760720" cy="82296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NALAPRO Project</a:t>
            </a:r>
            <a:endParaRPr lang="en-US" sz="4800" dirty="0"/>
          </a:p>
        </p:txBody>
      </p:sp>
      <p:sp>
        <p:nvSpPr>
          <p:cNvPr id="5" name="Text 3"/>
          <p:cNvSpPr/>
          <p:nvPr/>
        </p:nvSpPr>
        <p:spPr>
          <a:xfrm>
            <a:off x="548640" y="1554480"/>
            <a:ext cx="5760720" cy="640080"/>
          </a:xfrm>
          <a:prstGeom prst="rect">
            <a:avLst/>
          </a:prstGeom>
          <a:noFill/>
          <a:ln/>
        </p:spPr>
        <p:txBody>
          <a:bodyPr wrap="square" rtlCol="0" anchor="ctr"/>
          <a:lstStyle/>
          <a:p>
            <a:pPr marL="0" indent="0">
              <a:buNone/>
            </a:pPr>
            <a:r>
              <a:rPr lang="en-US" sz="2400" dirty="0">
                <a:solidFill>
                  <a:srgbClr val="94A3B8"/>
                </a:solidFill>
                <a:latin typeface="Calibri" pitchFamily="34" charset="0"/>
                <a:ea typeface="Calibri" pitchFamily="34" charset="-122"/>
                <a:cs typeface="Calibri" pitchFamily="34" charset="-120"/>
              </a:rPr>
              <a:t>20 Newsgroups Text Classification</a:t>
            </a:r>
            <a:endParaRPr lang="en-US" sz="2400" dirty="0"/>
          </a:p>
        </p:txBody>
      </p:sp>
      <p:sp>
        <p:nvSpPr>
          <p:cNvPr id="6" name="Text 4"/>
          <p:cNvSpPr/>
          <p:nvPr/>
        </p:nvSpPr>
        <p:spPr>
          <a:xfrm>
            <a:off x="548640" y="2514600"/>
            <a:ext cx="5760720" cy="457200"/>
          </a:xfrm>
          <a:prstGeom prst="rect">
            <a:avLst/>
          </a:prstGeom>
          <a:noFill/>
          <a:ln/>
        </p:spPr>
        <p:txBody>
          <a:bodyPr wrap="square" rtlCol="0" anchor="ctr"/>
          <a:lstStyle/>
          <a:p>
            <a:pPr marL="0" indent="0">
              <a:buNone/>
            </a:pPr>
            <a:r>
              <a:rPr lang="en-US" sz="1500" dirty="0">
                <a:solidFill>
                  <a:srgbClr val="94A3B8"/>
                </a:solidFill>
                <a:latin typeface="Calibri" pitchFamily="34" charset="0"/>
                <a:ea typeface="Calibri" pitchFamily="34" charset="-122"/>
                <a:cs typeface="Calibri" pitchFamily="34" charset="-120"/>
              </a:rPr>
              <a:t>Neural Networks  •  BERT  •  LLMs</a:t>
            </a:r>
            <a:endParaRPr lang="en-US" sz="1500" dirty="0"/>
          </a:p>
        </p:txBody>
      </p:sp>
      <p:sp>
        <p:nvSpPr>
          <p:cNvPr id="7" name="Text 5"/>
          <p:cNvSpPr/>
          <p:nvPr/>
        </p:nvSpPr>
        <p:spPr>
          <a:xfrm>
            <a:off x="548640" y="3474720"/>
            <a:ext cx="5760720" cy="1280160"/>
          </a:xfrm>
          <a:prstGeom prst="rect">
            <a:avLst/>
          </a:prstGeom>
          <a:noFill/>
          <a:ln/>
        </p:spPr>
        <p:txBody>
          <a:bodyPr wrap="square" rtlCol="0" anchor="ctr"/>
          <a:lstStyle/>
          <a:p>
            <a:pPr marL="0" indent="0">
              <a:buNone/>
            </a:pPr>
            <a:r>
              <a:rPr lang="en-US" dirty="0">
                <a:solidFill>
                  <a:srgbClr val="475569"/>
                </a:solidFill>
                <a:latin typeface="Calibri" pitchFamily="34" charset="0"/>
                <a:ea typeface="Calibri" pitchFamily="34" charset="-122"/>
                <a:cs typeface="Calibri" pitchFamily="34" charset="-120"/>
              </a:rPr>
              <a:t>20 Newsgroups Dataset  •  20 Classes  •  18,846 Documents</a:t>
            </a:r>
            <a:endParaRPr lang="en-US" dirty="0"/>
          </a:p>
        </p:txBody>
      </p:sp>
      <p:sp>
        <p:nvSpPr>
          <p:cNvPr id="8" name="Text 6"/>
          <p:cNvSpPr/>
          <p:nvPr/>
        </p:nvSpPr>
        <p:spPr>
          <a:xfrm>
            <a:off x="6720840" y="731520"/>
            <a:ext cx="2286000" cy="548640"/>
          </a:xfrm>
          <a:prstGeom prst="rect">
            <a:avLst/>
          </a:prstGeom>
          <a:noFill/>
          <a:ln/>
        </p:spPr>
        <p:txBody>
          <a:bodyPr wrap="square" rtlCol="0" anchor="ctr"/>
          <a:lstStyle/>
          <a:p>
            <a:pPr marL="0" indent="0" algn="ctr">
              <a:buNone/>
            </a:pPr>
            <a:r>
              <a:rPr lang="en-US" sz="2600" b="1" dirty="0">
                <a:solidFill>
                  <a:srgbClr val="3B82F6"/>
                </a:solidFill>
                <a:latin typeface="Calibri" pitchFamily="34" charset="0"/>
                <a:ea typeface="Calibri" pitchFamily="34" charset="-122"/>
                <a:cs typeface="Calibri" pitchFamily="34" charset="-120"/>
              </a:rPr>
              <a:t>11,314</a:t>
            </a:r>
            <a:endParaRPr lang="en-US" sz="2600" dirty="0"/>
          </a:p>
        </p:txBody>
      </p:sp>
      <p:sp>
        <p:nvSpPr>
          <p:cNvPr id="9" name="Text 7"/>
          <p:cNvSpPr/>
          <p:nvPr/>
        </p:nvSpPr>
        <p:spPr>
          <a:xfrm>
            <a:off x="6720840" y="1234440"/>
            <a:ext cx="2286000" cy="3200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Train</a:t>
            </a:r>
            <a:endParaRPr lang="en-US" sz="1200" dirty="0"/>
          </a:p>
        </p:txBody>
      </p:sp>
      <p:sp>
        <p:nvSpPr>
          <p:cNvPr id="10" name="Text 8"/>
          <p:cNvSpPr/>
          <p:nvPr/>
        </p:nvSpPr>
        <p:spPr>
          <a:xfrm>
            <a:off x="6720840" y="2103120"/>
            <a:ext cx="2286000" cy="548640"/>
          </a:xfrm>
          <a:prstGeom prst="rect">
            <a:avLst/>
          </a:prstGeom>
          <a:noFill/>
          <a:ln/>
        </p:spPr>
        <p:txBody>
          <a:bodyPr wrap="square" rtlCol="0" anchor="ctr"/>
          <a:lstStyle/>
          <a:p>
            <a:pPr marL="0" indent="0" algn="ctr">
              <a:buNone/>
            </a:pPr>
            <a:r>
              <a:rPr lang="en-US" sz="2600" b="1" dirty="0">
                <a:solidFill>
                  <a:srgbClr val="3B82F6"/>
                </a:solidFill>
                <a:latin typeface="Calibri" pitchFamily="34" charset="0"/>
                <a:ea typeface="Calibri" pitchFamily="34" charset="-122"/>
                <a:cs typeface="Calibri" pitchFamily="34" charset="-120"/>
              </a:rPr>
              <a:t>7,532</a:t>
            </a:r>
            <a:endParaRPr lang="en-US" sz="2600" dirty="0"/>
          </a:p>
        </p:txBody>
      </p:sp>
      <p:sp>
        <p:nvSpPr>
          <p:cNvPr id="11" name="Text 9"/>
          <p:cNvSpPr/>
          <p:nvPr/>
        </p:nvSpPr>
        <p:spPr>
          <a:xfrm>
            <a:off x="6720840" y="2606040"/>
            <a:ext cx="2286000" cy="3200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Test</a:t>
            </a:r>
            <a:endParaRPr lang="en-US" sz="1200" dirty="0"/>
          </a:p>
        </p:txBody>
      </p:sp>
      <p:sp>
        <p:nvSpPr>
          <p:cNvPr id="12" name="Text 10"/>
          <p:cNvSpPr/>
          <p:nvPr/>
        </p:nvSpPr>
        <p:spPr>
          <a:xfrm>
            <a:off x="6720840" y="3474720"/>
            <a:ext cx="2286000" cy="548640"/>
          </a:xfrm>
          <a:prstGeom prst="rect">
            <a:avLst/>
          </a:prstGeom>
          <a:noFill/>
          <a:ln/>
        </p:spPr>
        <p:txBody>
          <a:bodyPr wrap="square" rtlCol="0" anchor="ctr"/>
          <a:lstStyle/>
          <a:p>
            <a:pPr marL="0" indent="0" algn="ctr">
              <a:buNone/>
            </a:pPr>
            <a:r>
              <a:rPr lang="en-US" sz="2600" b="1" dirty="0">
                <a:solidFill>
                  <a:srgbClr val="3B82F6"/>
                </a:solidFill>
                <a:latin typeface="Calibri" pitchFamily="34" charset="0"/>
                <a:ea typeface="Calibri" pitchFamily="34" charset="-122"/>
                <a:cs typeface="Calibri" pitchFamily="34" charset="-120"/>
              </a:rPr>
              <a:t>20</a:t>
            </a:r>
            <a:endParaRPr lang="en-US" sz="2600" dirty="0"/>
          </a:p>
        </p:txBody>
      </p:sp>
      <p:sp>
        <p:nvSpPr>
          <p:cNvPr id="13" name="Text 11"/>
          <p:cNvSpPr/>
          <p:nvPr/>
        </p:nvSpPr>
        <p:spPr>
          <a:xfrm>
            <a:off x="6720840" y="3977640"/>
            <a:ext cx="2286000" cy="32004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Classes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Problem &amp; Dataset</a:t>
            </a:r>
            <a:endParaRPr lang="en-US" sz="2200" dirty="0"/>
          </a:p>
        </p:txBody>
      </p:sp>
      <p:sp>
        <p:nvSpPr>
          <p:cNvPr id="4" name="Shape 2"/>
          <p:cNvSpPr/>
          <p:nvPr/>
        </p:nvSpPr>
        <p:spPr>
          <a:xfrm>
            <a:off x="274320" y="868680"/>
            <a:ext cx="411480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5" name="Shape 3"/>
          <p:cNvSpPr/>
          <p:nvPr/>
        </p:nvSpPr>
        <p:spPr>
          <a:xfrm>
            <a:off x="274320" y="868680"/>
            <a:ext cx="4114800" cy="73152"/>
          </a:xfrm>
          <a:prstGeom prst="rect">
            <a:avLst/>
          </a:prstGeom>
          <a:solidFill>
            <a:srgbClr val="3B82F6"/>
          </a:solidFill>
          <a:ln w="12700">
            <a:solidFill>
              <a:srgbClr val="3B82F6"/>
            </a:solidFill>
            <a:prstDash val="solid"/>
          </a:ln>
        </p:spPr>
        <p:txBody>
          <a:bodyPr/>
          <a:lstStyle/>
          <a:p>
            <a:endParaRPr lang="en-KE"/>
          </a:p>
        </p:txBody>
      </p:sp>
      <p:sp>
        <p:nvSpPr>
          <p:cNvPr id="6" name="Text 4"/>
          <p:cNvSpPr/>
          <p:nvPr/>
        </p:nvSpPr>
        <p:spPr>
          <a:xfrm>
            <a:off x="411480" y="1024128"/>
            <a:ext cx="3840480" cy="320040"/>
          </a:xfrm>
          <a:prstGeom prst="rect">
            <a:avLst/>
          </a:prstGeom>
          <a:noFill/>
          <a:ln/>
        </p:spPr>
        <p:txBody>
          <a:bodyPr wrap="square"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THE TASK</a:t>
            </a:r>
            <a:endParaRPr lang="en-US" sz="1000" dirty="0"/>
          </a:p>
        </p:txBody>
      </p:sp>
      <p:sp>
        <p:nvSpPr>
          <p:cNvPr id="7" name="Text 5"/>
          <p:cNvSpPr/>
          <p:nvPr/>
        </p:nvSpPr>
        <p:spPr>
          <a:xfrm>
            <a:off x="411480" y="1417320"/>
            <a:ext cx="3794760" cy="914400"/>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Given a newsgroup post, automatically classify it into 1 of 20 topic categories.</a:t>
            </a:r>
            <a:endParaRPr lang="en-US" sz="1400" dirty="0"/>
          </a:p>
        </p:txBody>
      </p:sp>
      <p:sp>
        <p:nvSpPr>
          <p:cNvPr id="8" name="Text 6"/>
          <p:cNvSpPr/>
          <p:nvPr/>
        </p:nvSpPr>
        <p:spPr>
          <a:xfrm>
            <a:off x="411480" y="2423160"/>
            <a:ext cx="3794760" cy="11887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Removed headers, footers and quotes so the model must learn from actual content and not metadata like sender emails.</a:t>
            </a:r>
            <a:endParaRPr lang="en-US" sz="1200" dirty="0"/>
          </a:p>
        </p:txBody>
      </p:sp>
      <p:sp>
        <p:nvSpPr>
          <p:cNvPr id="9" name="Text 7"/>
          <p:cNvSpPr/>
          <p:nvPr/>
        </p:nvSpPr>
        <p:spPr>
          <a:xfrm>
            <a:off x="411480" y="3703320"/>
            <a:ext cx="3794760" cy="7315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This is a multi-class classification problem with 20 possible labels.</a:t>
            </a:r>
            <a:endParaRPr lang="en-US" sz="1200" dirty="0"/>
          </a:p>
        </p:txBody>
      </p:sp>
      <p:sp>
        <p:nvSpPr>
          <p:cNvPr id="10" name="Shape 8"/>
          <p:cNvSpPr/>
          <p:nvPr/>
        </p:nvSpPr>
        <p:spPr>
          <a:xfrm>
            <a:off x="4663440" y="868680"/>
            <a:ext cx="2011680" cy="173736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1" name="Shape 9"/>
          <p:cNvSpPr/>
          <p:nvPr/>
        </p:nvSpPr>
        <p:spPr>
          <a:xfrm>
            <a:off x="4663440" y="868680"/>
            <a:ext cx="2011680" cy="54864"/>
          </a:xfrm>
          <a:prstGeom prst="rect">
            <a:avLst/>
          </a:prstGeom>
          <a:solidFill>
            <a:srgbClr val="3B82F6"/>
          </a:solidFill>
          <a:ln w="12700">
            <a:solidFill>
              <a:srgbClr val="3B82F6"/>
            </a:solidFill>
            <a:prstDash val="solid"/>
          </a:ln>
        </p:spPr>
        <p:txBody>
          <a:bodyPr/>
          <a:lstStyle/>
          <a:p>
            <a:endParaRPr lang="en-KE"/>
          </a:p>
        </p:txBody>
      </p:sp>
      <p:sp>
        <p:nvSpPr>
          <p:cNvPr id="12" name="Text 10"/>
          <p:cNvSpPr/>
          <p:nvPr/>
        </p:nvSpPr>
        <p:spPr>
          <a:xfrm>
            <a:off x="4663440" y="1188720"/>
            <a:ext cx="2011680" cy="594360"/>
          </a:xfrm>
          <a:prstGeom prst="rect">
            <a:avLst/>
          </a:prstGeom>
          <a:noFill/>
          <a:ln/>
        </p:spPr>
        <p:txBody>
          <a:bodyPr wrap="square" rtlCol="0" anchor="ctr"/>
          <a:lstStyle/>
          <a:p>
            <a:pPr marL="0" indent="0" algn="ctr">
              <a:buNone/>
            </a:pPr>
            <a:r>
              <a:rPr lang="en-US" sz="2800" b="1" dirty="0">
                <a:solidFill>
                  <a:srgbClr val="3B82F6"/>
                </a:solidFill>
                <a:latin typeface="Calibri" pitchFamily="34" charset="0"/>
                <a:ea typeface="Calibri" pitchFamily="34" charset="-122"/>
                <a:cs typeface="Calibri" pitchFamily="34" charset="-120"/>
              </a:rPr>
              <a:t>18,846</a:t>
            </a:r>
            <a:endParaRPr lang="en-US" sz="2800" dirty="0"/>
          </a:p>
        </p:txBody>
      </p:sp>
      <p:sp>
        <p:nvSpPr>
          <p:cNvPr id="13" name="Text 11"/>
          <p:cNvSpPr/>
          <p:nvPr/>
        </p:nvSpPr>
        <p:spPr>
          <a:xfrm>
            <a:off x="4663440" y="1874520"/>
            <a:ext cx="201168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Total Documents</a:t>
            </a:r>
            <a:endParaRPr lang="en-US" sz="1100" dirty="0"/>
          </a:p>
        </p:txBody>
      </p:sp>
      <p:sp>
        <p:nvSpPr>
          <p:cNvPr id="14" name="Shape 12"/>
          <p:cNvSpPr/>
          <p:nvPr/>
        </p:nvSpPr>
        <p:spPr>
          <a:xfrm>
            <a:off x="6812280" y="868680"/>
            <a:ext cx="2011680" cy="173736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5" name="Shape 13"/>
          <p:cNvSpPr/>
          <p:nvPr/>
        </p:nvSpPr>
        <p:spPr>
          <a:xfrm>
            <a:off x="6812280" y="868680"/>
            <a:ext cx="2011680" cy="54864"/>
          </a:xfrm>
          <a:prstGeom prst="rect">
            <a:avLst/>
          </a:prstGeom>
          <a:solidFill>
            <a:srgbClr val="14B8A6"/>
          </a:solidFill>
          <a:ln w="12700">
            <a:solidFill>
              <a:srgbClr val="14B8A6"/>
            </a:solidFill>
            <a:prstDash val="solid"/>
          </a:ln>
        </p:spPr>
        <p:txBody>
          <a:bodyPr/>
          <a:lstStyle/>
          <a:p>
            <a:endParaRPr lang="en-KE"/>
          </a:p>
        </p:txBody>
      </p:sp>
      <p:sp>
        <p:nvSpPr>
          <p:cNvPr id="16" name="Text 14"/>
          <p:cNvSpPr/>
          <p:nvPr/>
        </p:nvSpPr>
        <p:spPr>
          <a:xfrm>
            <a:off x="6812280" y="1188720"/>
            <a:ext cx="2011680" cy="594360"/>
          </a:xfrm>
          <a:prstGeom prst="rect">
            <a:avLst/>
          </a:prstGeom>
          <a:noFill/>
          <a:ln/>
        </p:spPr>
        <p:txBody>
          <a:bodyPr wrap="square" rtlCol="0" anchor="ctr"/>
          <a:lstStyle/>
          <a:p>
            <a:pPr marL="0" indent="0" algn="ctr">
              <a:buNone/>
            </a:pPr>
            <a:r>
              <a:rPr lang="en-US" sz="2800" b="1" dirty="0">
                <a:solidFill>
                  <a:srgbClr val="14B8A6"/>
                </a:solidFill>
                <a:latin typeface="Calibri" pitchFamily="34" charset="0"/>
                <a:ea typeface="Calibri" pitchFamily="34" charset="-122"/>
                <a:cs typeface="Calibri" pitchFamily="34" charset="-120"/>
              </a:rPr>
              <a:t>11,314</a:t>
            </a:r>
            <a:endParaRPr lang="en-US" sz="2800" dirty="0"/>
          </a:p>
        </p:txBody>
      </p:sp>
      <p:sp>
        <p:nvSpPr>
          <p:cNvPr id="17" name="Text 15"/>
          <p:cNvSpPr/>
          <p:nvPr/>
        </p:nvSpPr>
        <p:spPr>
          <a:xfrm>
            <a:off x="6812280" y="1874520"/>
            <a:ext cx="201168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Training Samples</a:t>
            </a:r>
            <a:endParaRPr lang="en-US" sz="1100" dirty="0"/>
          </a:p>
        </p:txBody>
      </p:sp>
      <p:sp>
        <p:nvSpPr>
          <p:cNvPr id="18" name="Shape 16"/>
          <p:cNvSpPr/>
          <p:nvPr/>
        </p:nvSpPr>
        <p:spPr>
          <a:xfrm>
            <a:off x="4663440" y="2788920"/>
            <a:ext cx="2011680" cy="173736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9" name="Shape 17"/>
          <p:cNvSpPr/>
          <p:nvPr/>
        </p:nvSpPr>
        <p:spPr>
          <a:xfrm>
            <a:off x="4663440" y="2788920"/>
            <a:ext cx="2011680" cy="54864"/>
          </a:xfrm>
          <a:prstGeom prst="rect">
            <a:avLst/>
          </a:prstGeom>
          <a:solidFill>
            <a:srgbClr val="10B981"/>
          </a:solidFill>
          <a:ln w="12700">
            <a:solidFill>
              <a:srgbClr val="10B981"/>
            </a:solidFill>
            <a:prstDash val="solid"/>
          </a:ln>
        </p:spPr>
        <p:txBody>
          <a:bodyPr/>
          <a:lstStyle/>
          <a:p>
            <a:endParaRPr lang="en-KE"/>
          </a:p>
        </p:txBody>
      </p:sp>
      <p:sp>
        <p:nvSpPr>
          <p:cNvPr id="20" name="Text 18"/>
          <p:cNvSpPr/>
          <p:nvPr/>
        </p:nvSpPr>
        <p:spPr>
          <a:xfrm>
            <a:off x="4663440" y="3108960"/>
            <a:ext cx="2011680" cy="594360"/>
          </a:xfrm>
          <a:prstGeom prst="rect">
            <a:avLst/>
          </a:prstGeom>
          <a:noFill/>
          <a:ln/>
        </p:spPr>
        <p:txBody>
          <a:bodyPr wrap="square" rtlCol="0" anchor="ctr"/>
          <a:lstStyle/>
          <a:p>
            <a:pPr marL="0" indent="0" algn="ctr">
              <a:buNone/>
            </a:pPr>
            <a:r>
              <a:rPr lang="en-US" sz="2800" b="1" dirty="0">
                <a:solidFill>
                  <a:srgbClr val="10B981"/>
                </a:solidFill>
                <a:latin typeface="Calibri" pitchFamily="34" charset="0"/>
                <a:ea typeface="Calibri" pitchFamily="34" charset="-122"/>
                <a:cs typeface="Calibri" pitchFamily="34" charset="-120"/>
              </a:rPr>
              <a:t>7,532</a:t>
            </a:r>
            <a:endParaRPr lang="en-US" sz="2800" dirty="0"/>
          </a:p>
        </p:txBody>
      </p:sp>
      <p:sp>
        <p:nvSpPr>
          <p:cNvPr id="21" name="Text 19"/>
          <p:cNvSpPr/>
          <p:nvPr/>
        </p:nvSpPr>
        <p:spPr>
          <a:xfrm>
            <a:off x="4663440" y="3794760"/>
            <a:ext cx="201168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Test Samples</a:t>
            </a:r>
            <a:endParaRPr lang="en-US" sz="1100" dirty="0"/>
          </a:p>
        </p:txBody>
      </p:sp>
      <p:sp>
        <p:nvSpPr>
          <p:cNvPr id="22" name="Shape 20"/>
          <p:cNvSpPr/>
          <p:nvPr/>
        </p:nvSpPr>
        <p:spPr>
          <a:xfrm>
            <a:off x="6812280" y="2788920"/>
            <a:ext cx="2011680" cy="173736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23" name="Shape 21"/>
          <p:cNvSpPr/>
          <p:nvPr/>
        </p:nvSpPr>
        <p:spPr>
          <a:xfrm>
            <a:off x="6812280" y="2788920"/>
            <a:ext cx="2011680" cy="54864"/>
          </a:xfrm>
          <a:prstGeom prst="rect">
            <a:avLst/>
          </a:prstGeom>
          <a:solidFill>
            <a:srgbClr val="8B5CF6"/>
          </a:solidFill>
          <a:ln w="12700">
            <a:solidFill>
              <a:srgbClr val="8B5CF6"/>
            </a:solidFill>
            <a:prstDash val="solid"/>
          </a:ln>
        </p:spPr>
        <p:txBody>
          <a:bodyPr/>
          <a:lstStyle/>
          <a:p>
            <a:endParaRPr lang="en-KE"/>
          </a:p>
        </p:txBody>
      </p:sp>
      <p:sp>
        <p:nvSpPr>
          <p:cNvPr id="24" name="Text 22"/>
          <p:cNvSpPr/>
          <p:nvPr/>
        </p:nvSpPr>
        <p:spPr>
          <a:xfrm>
            <a:off x="6812280" y="3108960"/>
            <a:ext cx="2011680" cy="594360"/>
          </a:xfrm>
          <a:prstGeom prst="rect">
            <a:avLst/>
          </a:prstGeom>
          <a:noFill/>
          <a:ln/>
        </p:spPr>
        <p:txBody>
          <a:bodyPr wrap="square" rtlCol="0" anchor="ctr"/>
          <a:lstStyle/>
          <a:p>
            <a:pPr marL="0" indent="0" algn="ctr">
              <a:buNone/>
            </a:pPr>
            <a:r>
              <a:rPr lang="en-US" sz="2800" b="1" dirty="0">
                <a:solidFill>
                  <a:srgbClr val="8B5CF6"/>
                </a:solidFill>
                <a:latin typeface="Calibri" pitchFamily="34" charset="0"/>
                <a:ea typeface="Calibri" pitchFamily="34" charset="-122"/>
                <a:cs typeface="Calibri" pitchFamily="34" charset="-120"/>
              </a:rPr>
              <a:t>20</a:t>
            </a:r>
            <a:endParaRPr lang="en-US" sz="2800" dirty="0"/>
          </a:p>
        </p:txBody>
      </p:sp>
      <p:sp>
        <p:nvSpPr>
          <p:cNvPr id="25" name="Text 23"/>
          <p:cNvSpPr/>
          <p:nvPr/>
        </p:nvSpPr>
        <p:spPr>
          <a:xfrm>
            <a:off x="6812280" y="3794760"/>
            <a:ext cx="2011680" cy="45720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Topic Classes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Tasks Overview</a:t>
            </a:r>
            <a:endParaRPr lang="en-US" sz="2200" dirty="0"/>
          </a:p>
        </p:txBody>
      </p:sp>
      <p:sp>
        <p:nvSpPr>
          <p:cNvPr id="4" name="Shape 2"/>
          <p:cNvSpPr/>
          <p:nvPr/>
        </p:nvSpPr>
        <p:spPr>
          <a:xfrm>
            <a:off x="228600" y="868680"/>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5" name="Shape 3"/>
          <p:cNvSpPr/>
          <p:nvPr/>
        </p:nvSpPr>
        <p:spPr>
          <a:xfrm>
            <a:off x="228600" y="868680"/>
            <a:ext cx="502920" cy="914400"/>
          </a:xfrm>
          <a:prstGeom prst="rect">
            <a:avLst/>
          </a:prstGeom>
          <a:solidFill>
            <a:srgbClr val="3B82F6"/>
          </a:solidFill>
          <a:ln w="12700">
            <a:solidFill>
              <a:srgbClr val="3B82F6"/>
            </a:solidFill>
            <a:prstDash val="solid"/>
          </a:ln>
        </p:spPr>
        <p:txBody>
          <a:bodyPr/>
          <a:lstStyle/>
          <a:p>
            <a:endParaRPr lang="en-KE"/>
          </a:p>
        </p:txBody>
      </p:sp>
      <p:sp>
        <p:nvSpPr>
          <p:cNvPr id="6" name="Text 4"/>
          <p:cNvSpPr/>
          <p:nvPr/>
        </p:nvSpPr>
        <p:spPr>
          <a:xfrm>
            <a:off x="265176" y="1124712"/>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a:t>
            </a:r>
            <a:endParaRPr lang="en-US" sz="1100" dirty="0"/>
          </a:p>
        </p:txBody>
      </p:sp>
      <p:sp>
        <p:nvSpPr>
          <p:cNvPr id="7" name="Text 5"/>
          <p:cNvSpPr/>
          <p:nvPr/>
        </p:nvSpPr>
        <p:spPr>
          <a:xfrm>
            <a:off x="822960" y="960120"/>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Preprocessing</a:t>
            </a:r>
            <a:endParaRPr lang="en-US" sz="1200" dirty="0"/>
          </a:p>
        </p:txBody>
      </p:sp>
      <p:sp>
        <p:nvSpPr>
          <p:cNvPr id="8" name="Text 6"/>
          <p:cNvSpPr/>
          <p:nvPr/>
        </p:nvSpPr>
        <p:spPr>
          <a:xfrm>
            <a:off x="822960" y="1307592"/>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Lowercase → tokenize → remove stopwords → lemmatize</a:t>
            </a:r>
            <a:endParaRPr lang="en-US" sz="1000" dirty="0"/>
          </a:p>
        </p:txBody>
      </p:sp>
      <p:sp>
        <p:nvSpPr>
          <p:cNvPr id="9" name="Shape 7"/>
          <p:cNvSpPr/>
          <p:nvPr/>
        </p:nvSpPr>
        <p:spPr>
          <a:xfrm>
            <a:off x="4709160" y="868680"/>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0" name="Shape 8"/>
          <p:cNvSpPr/>
          <p:nvPr/>
        </p:nvSpPr>
        <p:spPr>
          <a:xfrm>
            <a:off x="4709160" y="868680"/>
            <a:ext cx="502920" cy="914400"/>
          </a:xfrm>
          <a:prstGeom prst="rect">
            <a:avLst/>
          </a:prstGeom>
          <a:solidFill>
            <a:srgbClr val="14B8A6"/>
          </a:solidFill>
          <a:ln w="12700">
            <a:solidFill>
              <a:srgbClr val="14B8A6"/>
            </a:solidFill>
            <a:prstDash val="solid"/>
          </a:ln>
        </p:spPr>
        <p:txBody>
          <a:bodyPr/>
          <a:lstStyle/>
          <a:p>
            <a:endParaRPr lang="en-KE"/>
          </a:p>
        </p:txBody>
      </p:sp>
      <p:sp>
        <p:nvSpPr>
          <p:cNvPr id="11" name="Text 9"/>
          <p:cNvSpPr/>
          <p:nvPr/>
        </p:nvSpPr>
        <p:spPr>
          <a:xfrm>
            <a:off x="4745736" y="1124712"/>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1b</a:t>
            </a:r>
            <a:endParaRPr lang="en-US" sz="1100" dirty="0"/>
          </a:p>
        </p:txBody>
      </p:sp>
      <p:sp>
        <p:nvSpPr>
          <p:cNvPr id="12" name="Text 10"/>
          <p:cNvSpPr/>
          <p:nvPr/>
        </p:nvSpPr>
        <p:spPr>
          <a:xfrm>
            <a:off x="5303520" y="960120"/>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Word2Vec + NN</a:t>
            </a:r>
            <a:endParaRPr lang="en-US" sz="1200" dirty="0"/>
          </a:p>
        </p:txBody>
      </p:sp>
      <p:sp>
        <p:nvSpPr>
          <p:cNvPr id="13" name="Text 11"/>
          <p:cNvSpPr/>
          <p:nvPr/>
        </p:nvSpPr>
        <p:spPr>
          <a:xfrm>
            <a:off x="5303520" y="1307592"/>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Avg word vectors (100d) → Linear → ReLU → Linear</a:t>
            </a:r>
            <a:endParaRPr lang="en-US" sz="1000" dirty="0"/>
          </a:p>
        </p:txBody>
      </p:sp>
      <p:sp>
        <p:nvSpPr>
          <p:cNvPr id="14" name="Shape 12"/>
          <p:cNvSpPr/>
          <p:nvPr/>
        </p:nvSpPr>
        <p:spPr>
          <a:xfrm>
            <a:off x="228600" y="1901952"/>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5" name="Shape 13"/>
          <p:cNvSpPr/>
          <p:nvPr/>
        </p:nvSpPr>
        <p:spPr>
          <a:xfrm>
            <a:off x="228600" y="1901952"/>
            <a:ext cx="502920" cy="914400"/>
          </a:xfrm>
          <a:prstGeom prst="rect">
            <a:avLst/>
          </a:prstGeom>
          <a:solidFill>
            <a:srgbClr val="10B981"/>
          </a:solidFill>
          <a:ln w="12700">
            <a:solidFill>
              <a:srgbClr val="10B981"/>
            </a:solidFill>
            <a:prstDash val="solid"/>
          </a:ln>
        </p:spPr>
        <p:txBody>
          <a:bodyPr/>
          <a:lstStyle/>
          <a:p>
            <a:endParaRPr lang="en-KE"/>
          </a:p>
        </p:txBody>
      </p:sp>
      <p:sp>
        <p:nvSpPr>
          <p:cNvPr id="16" name="Text 14"/>
          <p:cNvSpPr/>
          <p:nvPr/>
        </p:nvSpPr>
        <p:spPr>
          <a:xfrm>
            <a:off x="265176" y="2157984"/>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1c</a:t>
            </a:r>
            <a:endParaRPr lang="en-US" sz="1100" dirty="0"/>
          </a:p>
        </p:txBody>
      </p:sp>
      <p:sp>
        <p:nvSpPr>
          <p:cNvPr id="17" name="Text 15"/>
          <p:cNvSpPr/>
          <p:nvPr/>
        </p:nvSpPr>
        <p:spPr>
          <a:xfrm>
            <a:off x="822960" y="1993392"/>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TF-IDF + NN</a:t>
            </a:r>
            <a:endParaRPr lang="en-US" sz="1200" dirty="0"/>
          </a:p>
        </p:txBody>
      </p:sp>
      <p:sp>
        <p:nvSpPr>
          <p:cNvPr id="18" name="Text 16"/>
          <p:cNvSpPr/>
          <p:nvPr/>
        </p:nvSpPr>
        <p:spPr>
          <a:xfrm>
            <a:off x="822960" y="2340864"/>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Word importance scores (5000d) → same network</a:t>
            </a:r>
            <a:endParaRPr lang="en-US" sz="1000" dirty="0"/>
          </a:p>
        </p:txBody>
      </p:sp>
      <p:sp>
        <p:nvSpPr>
          <p:cNvPr id="19" name="Shape 17"/>
          <p:cNvSpPr/>
          <p:nvPr/>
        </p:nvSpPr>
        <p:spPr>
          <a:xfrm>
            <a:off x="4709160" y="1901952"/>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20" name="Shape 18"/>
          <p:cNvSpPr/>
          <p:nvPr/>
        </p:nvSpPr>
        <p:spPr>
          <a:xfrm>
            <a:off x="4709160" y="1901952"/>
            <a:ext cx="502920" cy="914400"/>
          </a:xfrm>
          <a:prstGeom prst="rect">
            <a:avLst/>
          </a:prstGeom>
          <a:solidFill>
            <a:srgbClr val="8B5CF6"/>
          </a:solidFill>
          <a:ln w="12700">
            <a:solidFill>
              <a:srgbClr val="8B5CF6"/>
            </a:solidFill>
            <a:prstDash val="solid"/>
          </a:ln>
        </p:spPr>
        <p:txBody>
          <a:bodyPr/>
          <a:lstStyle/>
          <a:p>
            <a:endParaRPr lang="en-KE"/>
          </a:p>
        </p:txBody>
      </p:sp>
      <p:sp>
        <p:nvSpPr>
          <p:cNvPr id="21" name="Text 19"/>
          <p:cNvSpPr/>
          <p:nvPr/>
        </p:nvSpPr>
        <p:spPr>
          <a:xfrm>
            <a:off x="4745736" y="2157984"/>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1d</a:t>
            </a:r>
            <a:endParaRPr lang="en-US" sz="1100" dirty="0"/>
          </a:p>
        </p:txBody>
      </p:sp>
      <p:sp>
        <p:nvSpPr>
          <p:cNvPr id="22" name="Text 20"/>
          <p:cNvSpPr/>
          <p:nvPr/>
        </p:nvSpPr>
        <p:spPr>
          <a:xfrm>
            <a:off x="5303520" y="1993392"/>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TF-IDF + Bigrams+LSA</a:t>
            </a:r>
            <a:endParaRPr lang="en-US" sz="1200" dirty="0"/>
          </a:p>
        </p:txBody>
      </p:sp>
      <p:sp>
        <p:nvSpPr>
          <p:cNvPr id="23" name="Text 21"/>
          <p:cNvSpPr/>
          <p:nvPr/>
        </p:nvSpPr>
        <p:spPr>
          <a:xfrm>
            <a:off x="5303520" y="2340864"/>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Phrases + SVD compression (300d) → same network</a:t>
            </a:r>
            <a:endParaRPr lang="en-US" sz="1000" dirty="0"/>
          </a:p>
        </p:txBody>
      </p:sp>
      <p:sp>
        <p:nvSpPr>
          <p:cNvPr id="24" name="Shape 22"/>
          <p:cNvSpPr/>
          <p:nvPr/>
        </p:nvSpPr>
        <p:spPr>
          <a:xfrm>
            <a:off x="228600" y="2935224"/>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25" name="Shape 23"/>
          <p:cNvSpPr/>
          <p:nvPr/>
        </p:nvSpPr>
        <p:spPr>
          <a:xfrm>
            <a:off x="228600" y="2935224"/>
            <a:ext cx="502920" cy="914400"/>
          </a:xfrm>
          <a:prstGeom prst="rect">
            <a:avLst/>
          </a:prstGeom>
          <a:solidFill>
            <a:srgbClr val="F59E0B"/>
          </a:solidFill>
          <a:ln w="12700">
            <a:solidFill>
              <a:srgbClr val="F59E0B"/>
            </a:solidFill>
            <a:prstDash val="solid"/>
          </a:ln>
        </p:spPr>
        <p:txBody>
          <a:bodyPr/>
          <a:lstStyle/>
          <a:p>
            <a:endParaRPr lang="en-KE"/>
          </a:p>
        </p:txBody>
      </p:sp>
      <p:sp>
        <p:nvSpPr>
          <p:cNvPr id="26" name="Text 24"/>
          <p:cNvSpPr/>
          <p:nvPr/>
        </p:nvSpPr>
        <p:spPr>
          <a:xfrm>
            <a:off x="265176" y="3191256"/>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5"/>
          <p:cNvSpPr/>
          <p:nvPr/>
        </p:nvSpPr>
        <p:spPr>
          <a:xfrm>
            <a:off x="822960" y="3026664"/>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BERT Fine-tuning</a:t>
            </a:r>
            <a:endParaRPr lang="en-US" sz="1200" dirty="0"/>
          </a:p>
        </p:txBody>
      </p:sp>
      <p:sp>
        <p:nvSpPr>
          <p:cNvPr id="28" name="Text 26"/>
          <p:cNvSpPr/>
          <p:nvPr/>
        </p:nvSpPr>
        <p:spPr>
          <a:xfrm>
            <a:off x="822960" y="3374136"/>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110M param transformer, fine-tuned end-to-end</a:t>
            </a:r>
            <a:endParaRPr lang="en-US" sz="1000" dirty="0"/>
          </a:p>
        </p:txBody>
      </p:sp>
      <p:sp>
        <p:nvSpPr>
          <p:cNvPr id="29" name="Shape 27"/>
          <p:cNvSpPr/>
          <p:nvPr/>
        </p:nvSpPr>
        <p:spPr>
          <a:xfrm>
            <a:off x="4709160" y="2935224"/>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30" name="Shape 28"/>
          <p:cNvSpPr/>
          <p:nvPr/>
        </p:nvSpPr>
        <p:spPr>
          <a:xfrm>
            <a:off x="4709160" y="2935224"/>
            <a:ext cx="502920" cy="914400"/>
          </a:xfrm>
          <a:prstGeom prst="rect">
            <a:avLst/>
          </a:prstGeom>
          <a:solidFill>
            <a:srgbClr val="EF4444"/>
          </a:solidFill>
          <a:ln w="12700">
            <a:solidFill>
              <a:srgbClr val="EF4444"/>
            </a:solidFill>
            <a:prstDash val="solid"/>
          </a:ln>
        </p:spPr>
        <p:txBody>
          <a:bodyPr/>
          <a:lstStyle/>
          <a:p>
            <a:endParaRPr lang="en-KE"/>
          </a:p>
        </p:txBody>
      </p:sp>
      <p:sp>
        <p:nvSpPr>
          <p:cNvPr id="31" name="Text 29"/>
          <p:cNvSpPr/>
          <p:nvPr/>
        </p:nvSpPr>
        <p:spPr>
          <a:xfrm>
            <a:off x="4745736" y="3191256"/>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30"/>
          <p:cNvSpPr/>
          <p:nvPr/>
        </p:nvSpPr>
        <p:spPr>
          <a:xfrm>
            <a:off x="5303520" y="3026664"/>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BERT + MLM</a:t>
            </a:r>
            <a:endParaRPr lang="en-US" sz="1200" dirty="0"/>
          </a:p>
        </p:txBody>
      </p:sp>
      <p:sp>
        <p:nvSpPr>
          <p:cNvPr id="33" name="Text 31"/>
          <p:cNvSpPr/>
          <p:nvPr/>
        </p:nvSpPr>
        <p:spPr>
          <a:xfrm>
            <a:off x="5303520" y="3374136"/>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Domain adapt via masking → then classify</a:t>
            </a:r>
            <a:endParaRPr lang="en-US" sz="1000" dirty="0"/>
          </a:p>
        </p:txBody>
      </p:sp>
      <p:sp>
        <p:nvSpPr>
          <p:cNvPr id="34" name="Shape 32"/>
          <p:cNvSpPr/>
          <p:nvPr/>
        </p:nvSpPr>
        <p:spPr>
          <a:xfrm>
            <a:off x="228600" y="3968496"/>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35" name="Shape 33"/>
          <p:cNvSpPr/>
          <p:nvPr/>
        </p:nvSpPr>
        <p:spPr>
          <a:xfrm>
            <a:off x="228600" y="3968496"/>
            <a:ext cx="502920" cy="914400"/>
          </a:xfrm>
          <a:prstGeom prst="rect">
            <a:avLst/>
          </a:prstGeom>
          <a:solidFill>
            <a:srgbClr val="F97316"/>
          </a:solidFill>
          <a:ln w="12700">
            <a:solidFill>
              <a:srgbClr val="F97316"/>
            </a:solidFill>
            <a:prstDash val="solid"/>
          </a:ln>
        </p:spPr>
        <p:txBody>
          <a:bodyPr/>
          <a:lstStyle/>
          <a:p>
            <a:endParaRPr lang="en-KE"/>
          </a:p>
        </p:txBody>
      </p:sp>
      <p:sp>
        <p:nvSpPr>
          <p:cNvPr id="36" name="Text 34"/>
          <p:cNvSpPr/>
          <p:nvPr/>
        </p:nvSpPr>
        <p:spPr>
          <a:xfrm>
            <a:off x="265176" y="4224528"/>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ext 35"/>
          <p:cNvSpPr/>
          <p:nvPr/>
        </p:nvSpPr>
        <p:spPr>
          <a:xfrm>
            <a:off x="822960" y="4059936"/>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Llama-3 Prompting</a:t>
            </a:r>
            <a:endParaRPr lang="en-US" sz="1200" dirty="0"/>
          </a:p>
        </p:txBody>
      </p:sp>
      <p:sp>
        <p:nvSpPr>
          <p:cNvPr id="38" name="Text 36"/>
          <p:cNvSpPr/>
          <p:nvPr/>
        </p:nvSpPr>
        <p:spPr>
          <a:xfrm>
            <a:off x="822960" y="4407408"/>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Zero-shot &amp; few-shot, no training at all</a:t>
            </a:r>
            <a:endParaRPr lang="en-US" sz="1000" dirty="0"/>
          </a:p>
        </p:txBody>
      </p:sp>
      <p:sp>
        <p:nvSpPr>
          <p:cNvPr id="39" name="Shape 37"/>
          <p:cNvSpPr/>
          <p:nvPr/>
        </p:nvSpPr>
        <p:spPr>
          <a:xfrm>
            <a:off x="4709160" y="3968496"/>
            <a:ext cx="4206240" cy="91440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40" name="Shape 38"/>
          <p:cNvSpPr/>
          <p:nvPr/>
        </p:nvSpPr>
        <p:spPr>
          <a:xfrm>
            <a:off x="4709160" y="3968496"/>
            <a:ext cx="502920" cy="914400"/>
          </a:xfrm>
          <a:prstGeom prst="rect">
            <a:avLst/>
          </a:prstGeom>
          <a:solidFill>
            <a:srgbClr val="EC4899"/>
          </a:solidFill>
          <a:ln w="12700">
            <a:solidFill>
              <a:srgbClr val="EC4899"/>
            </a:solidFill>
            <a:prstDash val="solid"/>
          </a:ln>
        </p:spPr>
        <p:txBody>
          <a:bodyPr/>
          <a:lstStyle/>
          <a:p>
            <a:endParaRPr lang="en-KE"/>
          </a:p>
        </p:txBody>
      </p:sp>
      <p:sp>
        <p:nvSpPr>
          <p:cNvPr id="41" name="Text 39"/>
          <p:cNvSpPr/>
          <p:nvPr/>
        </p:nvSpPr>
        <p:spPr>
          <a:xfrm>
            <a:off x="4745736" y="4224528"/>
            <a:ext cx="438912"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2" name="Text 40"/>
          <p:cNvSpPr/>
          <p:nvPr/>
        </p:nvSpPr>
        <p:spPr>
          <a:xfrm>
            <a:off x="5303520" y="4059936"/>
            <a:ext cx="35204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Llama-3 QLoRA</a:t>
            </a:r>
            <a:endParaRPr lang="en-US" sz="1200" dirty="0"/>
          </a:p>
        </p:txBody>
      </p:sp>
      <p:sp>
        <p:nvSpPr>
          <p:cNvPr id="43" name="Text 41"/>
          <p:cNvSpPr/>
          <p:nvPr/>
        </p:nvSpPr>
        <p:spPr>
          <a:xfrm>
            <a:off x="5303520" y="4407408"/>
            <a:ext cx="3520440" cy="38404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Fine-tune with LoRA adapters, ~0.04% params trained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 1: Neural Network Architecture</a:t>
            </a:r>
            <a:endParaRPr lang="en-US" sz="2200" dirty="0"/>
          </a:p>
        </p:txBody>
      </p:sp>
      <p:sp>
        <p:nvSpPr>
          <p:cNvPr id="4" name="Shape 2"/>
          <p:cNvSpPr/>
          <p:nvPr/>
        </p:nvSpPr>
        <p:spPr>
          <a:xfrm>
            <a:off x="274320" y="868680"/>
            <a:ext cx="347472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5" name="Shape 3"/>
          <p:cNvSpPr/>
          <p:nvPr/>
        </p:nvSpPr>
        <p:spPr>
          <a:xfrm>
            <a:off x="274320" y="868680"/>
            <a:ext cx="3474720" cy="54864"/>
          </a:xfrm>
          <a:prstGeom prst="rect">
            <a:avLst/>
          </a:prstGeom>
          <a:solidFill>
            <a:srgbClr val="3B82F6"/>
          </a:solidFill>
          <a:ln w="12700">
            <a:solidFill>
              <a:srgbClr val="3B82F6"/>
            </a:solidFill>
            <a:prstDash val="solid"/>
          </a:ln>
        </p:spPr>
        <p:txBody>
          <a:bodyPr/>
          <a:lstStyle/>
          <a:p>
            <a:endParaRPr lang="en-KE"/>
          </a:p>
        </p:txBody>
      </p:sp>
      <p:sp>
        <p:nvSpPr>
          <p:cNvPr id="6" name="Text 4"/>
          <p:cNvSpPr/>
          <p:nvPr/>
        </p:nvSpPr>
        <p:spPr>
          <a:xfrm>
            <a:off x="411480" y="1005840"/>
            <a:ext cx="3200400" cy="274320"/>
          </a:xfrm>
          <a:prstGeom prst="rect">
            <a:avLst/>
          </a:prstGeom>
          <a:noFill/>
          <a:ln/>
        </p:spPr>
        <p:txBody>
          <a:bodyPr wrap="square"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FIXED ARCHITECTURE</a:t>
            </a:r>
            <a:endParaRPr lang="en-US" sz="1000" dirty="0"/>
          </a:p>
        </p:txBody>
      </p:sp>
      <p:sp>
        <p:nvSpPr>
          <p:cNvPr id="7" name="Shape 5"/>
          <p:cNvSpPr/>
          <p:nvPr/>
        </p:nvSpPr>
        <p:spPr>
          <a:xfrm>
            <a:off x="457200" y="1417320"/>
            <a:ext cx="3108960" cy="475488"/>
          </a:xfrm>
          <a:prstGeom prst="rect">
            <a:avLst/>
          </a:prstGeom>
          <a:solidFill>
            <a:srgbClr val="0F172A"/>
          </a:solidFill>
          <a:ln/>
          <a:effectLst>
            <a:outerShdw blurRad="101600" dist="38100" dir="8700000" algn="bl" rotWithShape="0">
              <a:srgbClr val="000000">
                <a:alpha val="8000"/>
              </a:srgbClr>
            </a:outerShdw>
          </a:effectLst>
        </p:spPr>
        <p:txBody>
          <a:bodyPr/>
          <a:lstStyle/>
          <a:p>
            <a:endParaRPr lang="en-KE"/>
          </a:p>
        </p:txBody>
      </p:sp>
      <p:sp>
        <p:nvSpPr>
          <p:cNvPr id="8" name="Text 6"/>
          <p:cNvSpPr/>
          <p:nvPr/>
        </p:nvSpPr>
        <p:spPr>
          <a:xfrm>
            <a:off x="548640" y="1453896"/>
            <a:ext cx="2926080" cy="21945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Input Vector</a:t>
            </a:r>
            <a:endParaRPr lang="en-US" sz="1100" dirty="0"/>
          </a:p>
        </p:txBody>
      </p:sp>
      <p:sp>
        <p:nvSpPr>
          <p:cNvPr id="9" name="Text 7"/>
          <p:cNvSpPr/>
          <p:nvPr/>
        </p:nvSpPr>
        <p:spPr>
          <a:xfrm>
            <a:off x="548640" y="1664208"/>
            <a:ext cx="2926080" cy="182880"/>
          </a:xfrm>
          <a:prstGeom prst="rect">
            <a:avLst/>
          </a:prstGeom>
          <a:noFill/>
          <a:ln/>
        </p:spPr>
        <p:txBody>
          <a:bodyPr wrap="square" rtlCol="0" anchor="ctr"/>
          <a:lstStyle/>
          <a:p>
            <a:pPr marL="0" indent="0">
              <a:buNone/>
            </a:pPr>
            <a:r>
              <a:rPr lang="en-US" sz="900" dirty="0">
                <a:solidFill>
                  <a:srgbClr val="BAE6FD"/>
                </a:solidFill>
                <a:latin typeface="Calibri" pitchFamily="34" charset="0"/>
                <a:ea typeface="Calibri" pitchFamily="34" charset="-122"/>
                <a:cs typeface="Calibri" pitchFamily="34" charset="-120"/>
              </a:rPr>
              <a:t>100d / 5000d / 300d</a:t>
            </a:r>
            <a:endParaRPr lang="en-US" sz="900" dirty="0"/>
          </a:p>
        </p:txBody>
      </p:sp>
      <p:sp>
        <p:nvSpPr>
          <p:cNvPr id="10" name="Shape 8"/>
          <p:cNvSpPr/>
          <p:nvPr/>
        </p:nvSpPr>
        <p:spPr>
          <a:xfrm>
            <a:off x="457200" y="1984248"/>
            <a:ext cx="3108960" cy="475488"/>
          </a:xfrm>
          <a:prstGeom prst="rect">
            <a:avLst/>
          </a:prstGeom>
          <a:solidFill>
            <a:srgbClr val="3B82F6"/>
          </a:solidFill>
          <a:ln/>
          <a:effectLst>
            <a:outerShdw blurRad="101600" dist="38100" dir="8700000" algn="bl" rotWithShape="0">
              <a:srgbClr val="000000">
                <a:alpha val="8000"/>
              </a:srgbClr>
            </a:outerShdw>
          </a:effectLst>
        </p:spPr>
        <p:txBody>
          <a:bodyPr/>
          <a:lstStyle/>
          <a:p>
            <a:endParaRPr lang="en-KE"/>
          </a:p>
        </p:txBody>
      </p:sp>
      <p:sp>
        <p:nvSpPr>
          <p:cNvPr id="11" name="Text 9"/>
          <p:cNvSpPr/>
          <p:nvPr/>
        </p:nvSpPr>
        <p:spPr>
          <a:xfrm>
            <a:off x="548640" y="2020824"/>
            <a:ext cx="2926080" cy="21945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Linear Layer</a:t>
            </a:r>
            <a:endParaRPr lang="en-US" sz="1100" dirty="0"/>
          </a:p>
        </p:txBody>
      </p:sp>
      <p:sp>
        <p:nvSpPr>
          <p:cNvPr id="12" name="Text 10"/>
          <p:cNvSpPr/>
          <p:nvPr/>
        </p:nvSpPr>
        <p:spPr>
          <a:xfrm>
            <a:off x="548640" y="2231136"/>
            <a:ext cx="2926080" cy="182880"/>
          </a:xfrm>
          <a:prstGeom prst="rect">
            <a:avLst/>
          </a:prstGeom>
          <a:noFill/>
          <a:ln/>
        </p:spPr>
        <p:txBody>
          <a:bodyPr wrap="square" rtlCol="0" anchor="ctr"/>
          <a:lstStyle/>
          <a:p>
            <a:pPr marL="0" indent="0">
              <a:buNone/>
            </a:pPr>
            <a:r>
              <a:rPr lang="en-US" sz="900" dirty="0">
                <a:solidFill>
                  <a:srgbClr val="BAE6FD"/>
                </a:solidFill>
                <a:latin typeface="Calibri" pitchFamily="34" charset="0"/>
                <a:ea typeface="Calibri" pitchFamily="34" charset="-122"/>
                <a:cs typeface="Calibri" pitchFamily="34" charset="-120"/>
              </a:rPr>
              <a:t>→ 256 hidden units</a:t>
            </a:r>
            <a:endParaRPr lang="en-US" sz="900" dirty="0"/>
          </a:p>
        </p:txBody>
      </p:sp>
      <p:sp>
        <p:nvSpPr>
          <p:cNvPr id="13" name="Shape 11"/>
          <p:cNvSpPr/>
          <p:nvPr/>
        </p:nvSpPr>
        <p:spPr>
          <a:xfrm>
            <a:off x="457200" y="2551176"/>
            <a:ext cx="3108960" cy="475488"/>
          </a:xfrm>
          <a:prstGeom prst="rect">
            <a:avLst/>
          </a:prstGeom>
          <a:solidFill>
            <a:srgbClr val="0EA5E9"/>
          </a:solidFill>
          <a:ln/>
          <a:effectLst>
            <a:outerShdw blurRad="101600" dist="38100" dir="8700000" algn="bl" rotWithShape="0">
              <a:srgbClr val="000000">
                <a:alpha val="8000"/>
              </a:srgbClr>
            </a:outerShdw>
          </a:effectLst>
        </p:spPr>
        <p:txBody>
          <a:bodyPr/>
          <a:lstStyle/>
          <a:p>
            <a:endParaRPr lang="en-KE"/>
          </a:p>
        </p:txBody>
      </p:sp>
      <p:sp>
        <p:nvSpPr>
          <p:cNvPr id="14" name="Text 12"/>
          <p:cNvSpPr/>
          <p:nvPr/>
        </p:nvSpPr>
        <p:spPr>
          <a:xfrm>
            <a:off x="548640" y="2587752"/>
            <a:ext cx="2926080" cy="21945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ReLU</a:t>
            </a:r>
            <a:endParaRPr lang="en-US" sz="1100" dirty="0"/>
          </a:p>
        </p:txBody>
      </p:sp>
      <p:sp>
        <p:nvSpPr>
          <p:cNvPr id="15" name="Text 13"/>
          <p:cNvSpPr/>
          <p:nvPr/>
        </p:nvSpPr>
        <p:spPr>
          <a:xfrm>
            <a:off x="548640" y="2798064"/>
            <a:ext cx="2926080" cy="182880"/>
          </a:xfrm>
          <a:prstGeom prst="rect">
            <a:avLst/>
          </a:prstGeom>
          <a:noFill/>
          <a:ln/>
        </p:spPr>
        <p:txBody>
          <a:bodyPr wrap="square" rtlCol="0" anchor="ctr"/>
          <a:lstStyle/>
          <a:p>
            <a:pPr marL="0" indent="0">
              <a:buNone/>
            </a:pPr>
            <a:r>
              <a:rPr lang="en-US" sz="900" dirty="0">
                <a:solidFill>
                  <a:srgbClr val="BAE6FD"/>
                </a:solidFill>
                <a:latin typeface="Calibri" pitchFamily="34" charset="0"/>
                <a:ea typeface="Calibri" pitchFamily="34" charset="-122"/>
                <a:cs typeface="Calibri" pitchFamily="34" charset="-120"/>
              </a:rPr>
              <a:t>max(0, x) activation</a:t>
            </a:r>
            <a:endParaRPr lang="en-US" sz="900" dirty="0"/>
          </a:p>
        </p:txBody>
      </p:sp>
      <p:sp>
        <p:nvSpPr>
          <p:cNvPr id="16" name="Shape 14"/>
          <p:cNvSpPr/>
          <p:nvPr/>
        </p:nvSpPr>
        <p:spPr>
          <a:xfrm>
            <a:off x="457200" y="3118104"/>
            <a:ext cx="3108960" cy="475488"/>
          </a:xfrm>
          <a:prstGeom prst="rect">
            <a:avLst/>
          </a:prstGeom>
          <a:solidFill>
            <a:srgbClr val="3B82F6"/>
          </a:solidFill>
          <a:ln/>
          <a:effectLst>
            <a:outerShdw blurRad="101600" dist="38100" dir="8700000" algn="bl" rotWithShape="0">
              <a:srgbClr val="000000">
                <a:alpha val="8000"/>
              </a:srgbClr>
            </a:outerShdw>
          </a:effectLst>
        </p:spPr>
        <p:txBody>
          <a:bodyPr/>
          <a:lstStyle/>
          <a:p>
            <a:endParaRPr lang="en-KE"/>
          </a:p>
        </p:txBody>
      </p:sp>
      <p:sp>
        <p:nvSpPr>
          <p:cNvPr id="17" name="Text 15"/>
          <p:cNvSpPr/>
          <p:nvPr/>
        </p:nvSpPr>
        <p:spPr>
          <a:xfrm>
            <a:off x="548640" y="3154680"/>
            <a:ext cx="2926080" cy="21945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Linear Layer</a:t>
            </a:r>
            <a:endParaRPr lang="en-US" sz="1100" dirty="0"/>
          </a:p>
        </p:txBody>
      </p:sp>
      <p:sp>
        <p:nvSpPr>
          <p:cNvPr id="18" name="Text 16"/>
          <p:cNvSpPr/>
          <p:nvPr/>
        </p:nvSpPr>
        <p:spPr>
          <a:xfrm>
            <a:off x="548640" y="3364992"/>
            <a:ext cx="2926080" cy="182880"/>
          </a:xfrm>
          <a:prstGeom prst="rect">
            <a:avLst/>
          </a:prstGeom>
          <a:noFill/>
          <a:ln/>
        </p:spPr>
        <p:txBody>
          <a:bodyPr wrap="square" rtlCol="0" anchor="ctr"/>
          <a:lstStyle/>
          <a:p>
            <a:pPr marL="0" indent="0">
              <a:buNone/>
            </a:pPr>
            <a:r>
              <a:rPr lang="en-US" sz="900" dirty="0">
                <a:solidFill>
                  <a:srgbClr val="BAE6FD"/>
                </a:solidFill>
                <a:latin typeface="Calibri" pitchFamily="34" charset="0"/>
                <a:ea typeface="Calibri" pitchFamily="34" charset="-122"/>
                <a:cs typeface="Calibri" pitchFamily="34" charset="-120"/>
              </a:rPr>
              <a:t>→ 20 class scores</a:t>
            </a:r>
            <a:endParaRPr lang="en-US" sz="900" dirty="0"/>
          </a:p>
        </p:txBody>
      </p:sp>
      <p:sp>
        <p:nvSpPr>
          <p:cNvPr id="19" name="Shape 17"/>
          <p:cNvSpPr/>
          <p:nvPr/>
        </p:nvSpPr>
        <p:spPr>
          <a:xfrm>
            <a:off x="457200" y="3685032"/>
            <a:ext cx="3108960" cy="475488"/>
          </a:xfrm>
          <a:prstGeom prst="rect">
            <a:avLst/>
          </a:prstGeom>
          <a:solidFill>
            <a:srgbClr val="14B8A6"/>
          </a:solidFill>
          <a:ln/>
          <a:effectLst>
            <a:outerShdw blurRad="101600" dist="38100" dir="8700000" algn="bl" rotWithShape="0">
              <a:srgbClr val="000000">
                <a:alpha val="8000"/>
              </a:srgbClr>
            </a:outerShdw>
          </a:effectLst>
        </p:spPr>
        <p:txBody>
          <a:bodyPr/>
          <a:lstStyle/>
          <a:p>
            <a:endParaRPr lang="en-KE"/>
          </a:p>
        </p:txBody>
      </p:sp>
      <p:sp>
        <p:nvSpPr>
          <p:cNvPr id="20" name="Text 18"/>
          <p:cNvSpPr/>
          <p:nvPr/>
        </p:nvSpPr>
        <p:spPr>
          <a:xfrm>
            <a:off x="548640" y="3721608"/>
            <a:ext cx="2926080" cy="21945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Prediction</a:t>
            </a:r>
            <a:endParaRPr lang="en-US" sz="1100" dirty="0"/>
          </a:p>
        </p:txBody>
      </p:sp>
      <p:sp>
        <p:nvSpPr>
          <p:cNvPr id="21" name="Text 19"/>
          <p:cNvSpPr/>
          <p:nvPr/>
        </p:nvSpPr>
        <p:spPr>
          <a:xfrm>
            <a:off x="548640" y="3931920"/>
            <a:ext cx="2926080" cy="182880"/>
          </a:xfrm>
          <a:prstGeom prst="rect">
            <a:avLst/>
          </a:prstGeom>
          <a:noFill/>
          <a:ln/>
        </p:spPr>
        <p:txBody>
          <a:bodyPr wrap="square" rtlCol="0" anchor="ctr"/>
          <a:lstStyle/>
          <a:p>
            <a:pPr marL="0" indent="0">
              <a:buNone/>
            </a:pPr>
            <a:r>
              <a:rPr lang="en-US" sz="900" dirty="0">
                <a:solidFill>
                  <a:srgbClr val="BAE6FD"/>
                </a:solidFill>
                <a:latin typeface="Calibri" pitchFamily="34" charset="0"/>
                <a:ea typeface="Calibri" pitchFamily="34" charset="-122"/>
                <a:cs typeface="Calibri" pitchFamily="34" charset="-120"/>
              </a:rPr>
              <a:t>argmax → class label</a:t>
            </a:r>
            <a:endParaRPr lang="en-US" sz="900" dirty="0"/>
          </a:p>
        </p:txBody>
      </p:sp>
      <p:sp>
        <p:nvSpPr>
          <p:cNvPr id="22" name="Shape 20"/>
          <p:cNvSpPr/>
          <p:nvPr/>
        </p:nvSpPr>
        <p:spPr>
          <a:xfrm>
            <a:off x="4023360" y="868680"/>
            <a:ext cx="484632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23" name="Shape 21"/>
          <p:cNvSpPr/>
          <p:nvPr/>
        </p:nvSpPr>
        <p:spPr>
          <a:xfrm>
            <a:off x="4023360" y="868680"/>
            <a:ext cx="4846320" cy="54864"/>
          </a:xfrm>
          <a:prstGeom prst="rect">
            <a:avLst/>
          </a:prstGeom>
          <a:solidFill>
            <a:srgbClr val="0F172A"/>
          </a:solidFill>
          <a:ln w="12700">
            <a:solidFill>
              <a:srgbClr val="0F172A"/>
            </a:solidFill>
            <a:prstDash val="solid"/>
          </a:ln>
        </p:spPr>
        <p:txBody>
          <a:bodyPr/>
          <a:lstStyle/>
          <a:p>
            <a:endParaRPr lang="en-KE"/>
          </a:p>
        </p:txBody>
      </p:sp>
      <p:sp>
        <p:nvSpPr>
          <p:cNvPr id="24" name="Text 22"/>
          <p:cNvSpPr/>
          <p:nvPr/>
        </p:nvSpPr>
        <p:spPr>
          <a:xfrm>
            <a:off x="4160520" y="1005840"/>
            <a:ext cx="4572000" cy="274320"/>
          </a:xfrm>
          <a:prstGeom prst="rect">
            <a:avLst/>
          </a:prstGeom>
          <a:noFill/>
          <a:ln/>
        </p:spPr>
        <p:txBody>
          <a:bodyPr wrap="square"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VECTORIZATION METHODS</a:t>
            </a:r>
            <a:endParaRPr lang="en-US" sz="1000" dirty="0"/>
          </a:p>
        </p:txBody>
      </p:sp>
      <p:sp>
        <p:nvSpPr>
          <p:cNvPr id="25" name="Shape 23"/>
          <p:cNvSpPr/>
          <p:nvPr/>
        </p:nvSpPr>
        <p:spPr>
          <a:xfrm>
            <a:off x="4160520" y="1417320"/>
            <a:ext cx="54864" cy="640080"/>
          </a:xfrm>
          <a:prstGeom prst="rect">
            <a:avLst/>
          </a:prstGeom>
          <a:solidFill>
            <a:srgbClr val="14B8A6"/>
          </a:solidFill>
          <a:ln w="12700">
            <a:solidFill>
              <a:srgbClr val="14B8A6"/>
            </a:solidFill>
            <a:prstDash val="solid"/>
          </a:ln>
        </p:spPr>
        <p:txBody>
          <a:bodyPr/>
          <a:lstStyle/>
          <a:p>
            <a:endParaRPr lang="en-KE"/>
          </a:p>
        </p:txBody>
      </p:sp>
      <p:sp>
        <p:nvSpPr>
          <p:cNvPr id="26" name="Text 24"/>
          <p:cNvSpPr/>
          <p:nvPr/>
        </p:nvSpPr>
        <p:spPr>
          <a:xfrm>
            <a:off x="4315968" y="1453896"/>
            <a:ext cx="274320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Word2Vec (1 epoch)</a:t>
            </a:r>
            <a:endParaRPr lang="en-US" sz="1200" dirty="0"/>
          </a:p>
        </p:txBody>
      </p:sp>
      <p:sp>
        <p:nvSpPr>
          <p:cNvPr id="27" name="Text 25"/>
          <p:cNvSpPr/>
          <p:nvPr/>
        </p:nvSpPr>
        <p:spPr>
          <a:xfrm>
            <a:off x="4315968" y="1737360"/>
            <a:ext cx="274320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100d  •  Shallow semantic learning</a:t>
            </a:r>
            <a:endParaRPr lang="en-US" sz="1000" dirty="0"/>
          </a:p>
        </p:txBody>
      </p:sp>
      <p:sp>
        <p:nvSpPr>
          <p:cNvPr id="28" name="Shape 26"/>
          <p:cNvSpPr/>
          <p:nvPr/>
        </p:nvSpPr>
        <p:spPr>
          <a:xfrm>
            <a:off x="4160520" y="2221992"/>
            <a:ext cx="54864" cy="640080"/>
          </a:xfrm>
          <a:prstGeom prst="rect">
            <a:avLst/>
          </a:prstGeom>
          <a:solidFill>
            <a:srgbClr val="3B82F6"/>
          </a:solidFill>
          <a:ln w="12700">
            <a:solidFill>
              <a:srgbClr val="3B82F6"/>
            </a:solidFill>
            <a:prstDash val="solid"/>
          </a:ln>
        </p:spPr>
        <p:txBody>
          <a:bodyPr/>
          <a:lstStyle/>
          <a:p>
            <a:endParaRPr lang="en-KE"/>
          </a:p>
        </p:txBody>
      </p:sp>
      <p:sp>
        <p:nvSpPr>
          <p:cNvPr id="29" name="Text 27"/>
          <p:cNvSpPr/>
          <p:nvPr/>
        </p:nvSpPr>
        <p:spPr>
          <a:xfrm>
            <a:off x="4315968" y="2258568"/>
            <a:ext cx="274320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Word2Vec (10 epochs)</a:t>
            </a:r>
            <a:endParaRPr lang="en-US" sz="1200" dirty="0"/>
          </a:p>
        </p:txBody>
      </p:sp>
      <p:sp>
        <p:nvSpPr>
          <p:cNvPr id="30" name="Text 28"/>
          <p:cNvSpPr/>
          <p:nvPr/>
        </p:nvSpPr>
        <p:spPr>
          <a:xfrm>
            <a:off x="4315968" y="2542032"/>
            <a:ext cx="274320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100d  •  Better cluster structure</a:t>
            </a:r>
            <a:endParaRPr lang="en-US" sz="1000" dirty="0"/>
          </a:p>
        </p:txBody>
      </p:sp>
      <p:sp>
        <p:nvSpPr>
          <p:cNvPr id="31" name="Text 29"/>
          <p:cNvSpPr/>
          <p:nvPr/>
        </p:nvSpPr>
        <p:spPr>
          <a:xfrm>
            <a:off x="7132320" y="2331720"/>
            <a:ext cx="1554480" cy="320040"/>
          </a:xfrm>
          <a:prstGeom prst="rect">
            <a:avLst/>
          </a:prstGeom>
          <a:noFill/>
          <a:ln/>
        </p:spPr>
        <p:txBody>
          <a:bodyPr wrap="square" rtlCol="0" anchor="ctr"/>
          <a:lstStyle/>
          <a:p>
            <a:pPr marL="0" indent="0" algn="r">
              <a:buNone/>
            </a:pPr>
            <a:r>
              <a:rPr lang="en-US" sz="1600" b="1" dirty="0">
                <a:solidFill>
                  <a:srgbClr val="3B82F6"/>
                </a:solidFill>
                <a:latin typeface="Calibri" pitchFamily="34" charset="0"/>
                <a:ea typeface="Calibri" pitchFamily="34" charset="-122"/>
                <a:cs typeface="Calibri" pitchFamily="34" charset="-120"/>
              </a:rPr>
              <a:t>0.586</a:t>
            </a:r>
            <a:endParaRPr lang="en-US" sz="1600" dirty="0"/>
          </a:p>
        </p:txBody>
      </p:sp>
      <p:sp>
        <p:nvSpPr>
          <p:cNvPr id="32" name="Shape 30"/>
          <p:cNvSpPr/>
          <p:nvPr/>
        </p:nvSpPr>
        <p:spPr>
          <a:xfrm>
            <a:off x="4160520" y="3026664"/>
            <a:ext cx="54864" cy="640080"/>
          </a:xfrm>
          <a:prstGeom prst="rect">
            <a:avLst/>
          </a:prstGeom>
          <a:solidFill>
            <a:srgbClr val="10B981"/>
          </a:solidFill>
          <a:ln w="12700">
            <a:solidFill>
              <a:srgbClr val="10B981"/>
            </a:solidFill>
            <a:prstDash val="solid"/>
          </a:ln>
        </p:spPr>
        <p:txBody>
          <a:bodyPr/>
          <a:lstStyle/>
          <a:p>
            <a:endParaRPr lang="en-KE"/>
          </a:p>
        </p:txBody>
      </p:sp>
      <p:sp>
        <p:nvSpPr>
          <p:cNvPr id="33" name="Text 31"/>
          <p:cNvSpPr/>
          <p:nvPr/>
        </p:nvSpPr>
        <p:spPr>
          <a:xfrm>
            <a:off x="4315968" y="3063240"/>
            <a:ext cx="274320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TF-IDF</a:t>
            </a:r>
            <a:endParaRPr lang="en-US" sz="1200" dirty="0"/>
          </a:p>
        </p:txBody>
      </p:sp>
      <p:sp>
        <p:nvSpPr>
          <p:cNvPr id="34" name="Text 32"/>
          <p:cNvSpPr/>
          <p:nvPr/>
        </p:nvSpPr>
        <p:spPr>
          <a:xfrm>
            <a:off x="4315968" y="3346704"/>
            <a:ext cx="274320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5000d  •  Word importance, no semantics</a:t>
            </a:r>
            <a:endParaRPr lang="en-US" sz="1000" dirty="0"/>
          </a:p>
        </p:txBody>
      </p:sp>
      <p:sp>
        <p:nvSpPr>
          <p:cNvPr id="35" name="Text 33"/>
          <p:cNvSpPr/>
          <p:nvPr/>
        </p:nvSpPr>
        <p:spPr>
          <a:xfrm>
            <a:off x="7132320" y="3136392"/>
            <a:ext cx="1554480" cy="320040"/>
          </a:xfrm>
          <a:prstGeom prst="rect">
            <a:avLst/>
          </a:prstGeom>
          <a:noFill/>
          <a:ln/>
        </p:spPr>
        <p:txBody>
          <a:bodyPr wrap="square" rtlCol="0" anchor="ctr"/>
          <a:lstStyle/>
          <a:p>
            <a:pPr marL="0" indent="0" algn="r">
              <a:buNone/>
            </a:pPr>
            <a:r>
              <a:rPr lang="en-US" sz="1600" b="1" dirty="0">
                <a:solidFill>
                  <a:srgbClr val="10B981"/>
                </a:solidFill>
                <a:latin typeface="Calibri" pitchFamily="34" charset="0"/>
                <a:ea typeface="Calibri" pitchFamily="34" charset="-122"/>
                <a:cs typeface="Calibri" pitchFamily="34" charset="-120"/>
              </a:rPr>
              <a:t>0.636</a:t>
            </a:r>
            <a:endParaRPr lang="en-US" sz="1600" dirty="0"/>
          </a:p>
        </p:txBody>
      </p:sp>
      <p:sp>
        <p:nvSpPr>
          <p:cNvPr id="36" name="Shape 34"/>
          <p:cNvSpPr/>
          <p:nvPr/>
        </p:nvSpPr>
        <p:spPr>
          <a:xfrm>
            <a:off x="4160520" y="3831336"/>
            <a:ext cx="54864" cy="640080"/>
          </a:xfrm>
          <a:prstGeom prst="rect">
            <a:avLst/>
          </a:prstGeom>
          <a:solidFill>
            <a:srgbClr val="8B5CF6"/>
          </a:solidFill>
          <a:ln w="12700">
            <a:solidFill>
              <a:srgbClr val="8B5CF6"/>
            </a:solidFill>
            <a:prstDash val="solid"/>
          </a:ln>
        </p:spPr>
        <p:txBody>
          <a:bodyPr/>
          <a:lstStyle/>
          <a:p>
            <a:endParaRPr lang="en-KE"/>
          </a:p>
        </p:txBody>
      </p:sp>
      <p:sp>
        <p:nvSpPr>
          <p:cNvPr id="37" name="Text 35"/>
          <p:cNvSpPr/>
          <p:nvPr/>
        </p:nvSpPr>
        <p:spPr>
          <a:xfrm>
            <a:off x="4315968" y="3867912"/>
            <a:ext cx="274320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TF-IDF + Bigrams + LSA</a:t>
            </a:r>
            <a:endParaRPr lang="en-US" sz="1200" dirty="0"/>
          </a:p>
        </p:txBody>
      </p:sp>
      <p:sp>
        <p:nvSpPr>
          <p:cNvPr id="38" name="Text 36"/>
          <p:cNvSpPr/>
          <p:nvPr/>
        </p:nvSpPr>
        <p:spPr>
          <a:xfrm>
            <a:off x="4315968" y="4151376"/>
            <a:ext cx="274320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300d  •  Phrases + topic compression</a:t>
            </a:r>
            <a:endParaRPr lang="en-US" sz="1000" dirty="0"/>
          </a:p>
        </p:txBody>
      </p:sp>
      <p:sp>
        <p:nvSpPr>
          <p:cNvPr id="39" name="Text 37"/>
          <p:cNvSpPr/>
          <p:nvPr/>
        </p:nvSpPr>
        <p:spPr>
          <a:xfrm>
            <a:off x="7132320" y="3941064"/>
            <a:ext cx="1554480" cy="320040"/>
          </a:xfrm>
          <a:prstGeom prst="rect">
            <a:avLst/>
          </a:prstGeom>
          <a:noFill/>
          <a:ln/>
        </p:spPr>
        <p:txBody>
          <a:bodyPr wrap="square" rtlCol="0" anchor="ctr"/>
          <a:lstStyle/>
          <a:p>
            <a:pPr marL="0" indent="0" algn="r">
              <a:buNone/>
            </a:pPr>
            <a:r>
              <a:rPr lang="en-US" sz="1600" b="1" dirty="0">
                <a:solidFill>
                  <a:srgbClr val="8B5CF6"/>
                </a:solidFill>
                <a:latin typeface="Calibri" pitchFamily="34" charset="0"/>
                <a:ea typeface="Calibri" pitchFamily="34" charset="-122"/>
                <a:cs typeface="Calibri" pitchFamily="34" charset="-120"/>
              </a:rPr>
              <a:t>0.615</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Word2Vec: Effect of Training Epochs</a:t>
            </a:r>
            <a:endParaRPr lang="en-US" sz="2200" dirty="0"/>
          </a:p>
        </p:txBody>
      </p:sp>
      <p:sp>
        <p:nvSpPr>
          <p:cNvPr id="4" name="Shape 2"/>
          <p:cNvSpPr/>
          <p:nvPr/>
        </p:nvSpPr>
        <p:spPr>
          <a:xfrm>
            <a:off x="228600" y="822960"/>
            <a:ext cx="4206240" cy="3200400"/>
          </a:xfrm>
          <a:prstGeom prst="rect">
            <a:avLst/>
          </a:prstGeom>
          <a:solidFill>
            <a:srgbClr val="EFF6FF"/>
          </a:solidFill>
          <a:ln w="19050">
            <a:solidFill>
              <a:srgbClr val="BFDBFE"/>
            </a:solidFill>
            <a:prstDash val="solid"/>
          </a:ln>
          <a:effectLst>
            <a:outerShdw blurRad="101600" dist="38100" dir="8700000" algn="bl" rotWithShape="0">
              <a:srgbClr val="000000">
                <a:alpha val="8000"/>
              </a:srgbClr>
            </a:outerShdw>
          </a:effectLst>
        </p:spPr>
        <p:txBody>
          <a:bodyPr/>
          <a:lstStyle/>
          <a:p>
            <a:endParaRPr lang="en-KE"/>
          </a:p>
        </p:txBody>
      </p:sp>
      <p:sp>
        <p:nvSpPr>
          <p:cNvPr id="7" name="Text 5"/>
          <p:cNvSpPr/>
          <p:nvPr/>
        </p:nvSpPr>
        <p:spPr>
          <a:xfrm>
            <a:off x="228600" y="4069080"/>
            <a:ext cx="4206240" cy="274320"/>
          </a:xfrm>
          <a:prstGeom prst="rect">
            <a:avLst/>
          </a:prstGeom>
          <a:noFill/>
          <a:ln/>
        </p:spPr>
        <p:txBody>
          <a:bodyPr wrap="square"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PCA — 1 Epoch</a:t>
            </a:r>
            <a:endParaRPr lang="en-US" sz="1200" dirty="0"/>
          </a:p>
        </p:txBody>
      </p:sp>
      <p:sp>
        <p:nvSpPr>
          <p:cNvPr id="8" name="Shape 6"/>
          <p:cNvSpPr/>
          <p:nvPr/>
        </p:nvSpPr>
        <p:spPr>
          <a:xfrm>
            <a:off x="4663440" y="822960"/>
            <a:ext cx="4206240" cy="3200400"/>
          </a:xfrm>
          <a:prstGeom prst="rect">
            <a:avLst/>
          </a:prstGeom>
          <a:solidFill>
            <a:srgbClr val="EFF6FF"/>
          </a:solidFill>
          <a:ln w="19050">
            <a:solidFill>
              <a:srgbClr val="BFDBFE"/>
            </a:solidFill>
            <a:prstDash val="solid"/>
          </a:ln>
          <a:effectLst>
            <a:outerShdw blurRad="101600" dist="38100" dir="8700000" algn="bl" rotWithShape="0">
              <a:srgbClr val="000000">
                <a:alpha val="8000"/>
              </a:srgbClr>
            </a:outerShdw>
          </a:effectLst>
        </p:spPr>
        <p:txBody>
          <a:bodyPr/>
          <a:lstStyle/>
          <a:p>
            <a:endParaRPr lang="en-KE"/>
          </a:p>
        </p:txBody>
      </p:sp>
      <p:sp>
        <p:nvSpPr>
          <p:cNvPr id="11" name="Text 9"/>
          <p:cNvSpPr/>
          <p:nvPr/>
        </p:nvSpPr>
        <p:spPr>
          <a:xfrm>
            <a:off x="4663440" y="4069080"/>
            <a:ext cx="4206240" cy="274320"/>
          </a:xfrm>
          <a:prstGeom prst="rect">
            <a:avLst/>
          </a:prstGeom>
          <a:noFill/>
          <a:ln/>
        </p:spPr>
        <p:txBody>
          <a:bodyPr wrap="square" rtlCol="0" anchor="ctr"/>
          <a:lstStyle/>
          <a:p>
            <a:pPr marL="0" indent="0" algn="ctr">
              <a:buNone/>
            </a:pPr>
            <a:r>
              <a:rPr lang="en-US" sz="1200" b="1" dirty="0">
                <a:solidFill>
                  <a:srgbClr val="1E293B"/>
                </a:solidFill>
                <a:latin typeface="Calibri" pitchFamily="34" charset="0"/>
                <a:ea typeface="Calibri" pitchFamily="34" charset="-122"/>
                <a:cs typeface="Calibri" pitchFamily="34" charset="-120"/>
              </a:rPr>
              <a:t>PCA — 10 Epochs</a:t>
            </a:r>
            <a:endParaRPr lang="en-US" sz="1200" dirty="0"/>
          </a:p>
        </p:txBody>
      </p:sp>
      <p:sp>
        <p:nvSpPr>
          <p:cNvPr id="12" name="Shape 10"/>
          <p:cNvSpPr/>
          <p:nvPr/>
        </p:nvSpPr>
        <p:spPr>
          <a:xfrm>
            <a:off x="228600" y="4434840"/>
            <a:ext cx="8549640" cy="502920"/>
          </a:xfrm>
          <a:prstGeom prst="rect">
            <a:avLst/>
          </a:prstGeom>
          <a:solidFill>
            <a:srgbClr val="DBEAFE"/>
          </a:solidFill>
          <a:ln w="12700">
            <a:solidFill>
              <a:srgbClr val="BFDBFE"/>
            </a:solidFill>
            <a:prstDash val="solid"/>
          </a:ln>
        </p:spPr>
        <p:txBody>
          <a:bodyPr/>
          <a:lstStyle/>
          <a:p>
            <a:endParaRPr lang="en-KE"/>
          </a:p>
        </p:txBody>
      </p:sp>
      <p:sp>
        <p:nvSpPr>
          <p:cNvPr id="13" name="Text 11"/>
          <p:cNvSpPr/>
          <p:nvPr/>
        </p:nvSpPr>
        <p:spPr>
          <a:xfrm>
            <a:off x="365760" y="4462272"/>
            <a:ext cx="8229600" cy="438912"/>
          </a:xfrm>
          <a:prstGeom prst="rect">
            <a:avLst/>
          </a:prstGeom>
          <a:noFill/>
          <a:ln/>
        </p:spPr>
        <p:txBody>
          <a:bodyPr wrap="square" rtlCol="0" anchor="ctr"/>
          <a:lstStyle/>
          <a:p>
            <a:pPr marL="0" indent="0" algn="ctr">
              <a:buNone/>
            </a:pPr>
            <a:r>
              <a:rPr lang="en-US" sz="1100" b="1" dirty="0">
                <a:solidFill>
                  <a:srgbClr val="1D4ED8"/>
                </a:solidFill>
                <a:latin typeface="Calibri" pitchFamily="34" charset="0"/>
                <a:ea typeface="Calibri" pitchFamily="34" charset="-122"/>
                <a:cs typeface="Calibri" pitchFamily="34" charset="-120"/>
              </a:rPr>
              <a:t>Mean cosine shift: 0.6876 — vectors moved significantly</a:t>
            </a:r>
            <a:endParaRPr lang="en-US" sz="1100" dirty="0"/>
          </a:p>
        </p:txBody>
      </p:sp>
      <p:pic>
        <p:nvPicPr>
          <p:cNvPr id="17" name="Picture 16">
            <a:extLst>
              <a:ext uri="{FF2B5EF4-FFF2-40B4-BE49-F238E27FC236}">
                <a16:creationId xmlns:a16="http://schemas.microsoft.com/office/drawing/2014/main" id="{615BAF53-B922-E1B1-F20B-F5D0ABB2341C}"/>
              </a:ext>
            </a:extLst>
          </p:cNvPr>
          <p:cNvPicPr>
            <a:picLocks noChangeAspect="1"/>
          </p:cNvPicPr>
          <p:nvPr/>
        </p:nvPicPr>
        <p:blipFill>
          <a:blip r:embed="rId3"/>
          <a:stretch>
            <a:fillRect/>
          </a:stretch>
        </p:blipFill>
        <p:spPr>
          <a:xfrm>
            <a:off x="281075" y="958413"/>
            <a:ext cx="4101290" cy="2929493"/>
          </a:xfrm>
          <a:prstGeom prst="rect">
            <a:avLst/>
          </a:prstGeom>
        </p:spPr>
      </p:pic>
      <p:pic>
        <p:nvPicPr>
          <p:cNvPr id="19" name="Picture 18">
            <a:extLst>
              <a:ext uri="{FF2B5EF4-FFF2-40B4-BE49-F238E27FC236}">
                <a16:creationId xmlns:a16="http://schemas.microsoft.com/office/drawing/2014/main" id="{82663642-F2B5-54BC-3A11-EA972F77844B}"/>
              </a:ext>
            </a:extLst>
          </p:cNvPr>
          <p:cNvPicPr>
            <a:picLocks noChangeAspect="1"/>
          </p:cNvPicPr>
          <p:nvPr/>
        </p:nvPicPr>
        <p:blipFill>
          <a:blip r:embed="rId4"/>
          <a:stretch>
            <a:fillRect/>
          </a:stretch>
        </p:blipFill>
        <p:spPr>
          <a:xfrm>
            <a:off x="4767442" y="917177"/>
            <a:ext cx="3998235" cy="29707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B8278E-91F7-7895-E35E-1BD6B1B7F204}"/>
              </a:ext>
            </a:extLst>
          </p:cNvPr>
          <p:cNvPicPr>
            <a:picLocks noChangeAspect="1"/>
          </p:cNvPicPr>
          <p:nvPr/>
        </p:nvPicPr>
        <p:blipFill>
          <a:blip r:embed="rId3"/>
          <a:stretch>
            <a:fillRect/>
          </a:stretch>
        </p:blipFill>
        <p:spPr>
          <a:xfrm>
            <a:off x="0" y="152401"/>
            <a:ext cx="9144000" cy="4593656"/>
          </a:xfrm>
          <a:prstGeom prst="rect">
            <a:avLst/>
          </a:prstGeom>
        </p:spPr>
      </p:pic>
    </p:spTree>
    <p:extLst>
      <p:ext uri="{BB962C8B-B14F-4D97-AF65-F5344CB8AC3E}">
        <p14:creationId xmlns:p14="http://schemas.microsoft.com/office/powerpoint/2010/main" val="715307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 2: BERT Fine-Tuning  →  0.698</a:t>
            </a:r>
            <a:endParaRPr lang="en-US" sz="2200" dirty="0"/>
          </a:p>
        </p:txBody>
      </p:sp>
      <p:sp>
        <p:nvSpPr>
          <p:cNvPr id="4" name="Shape 2"/>
          <p:cNvSpPr/>
          <p:nvPr/>
        </p:nvSpPr>
        <p:spPr>
          <a:xfrm>
            <a:off x="274320" y="868680"/>
            <a:ext cx="512064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5" name="Shape 3"/>
          <p:cNvSpPr/>
          <p:nvPr/>
        </p:nvSpPr>
        <p:spPr>
          <a:xfrm>
            <a:off x="274320" y="868680"/>
            <a:ext cx="5120640" cy="54864"/>
          </a:xfrm>
          <a:prstGeom prst="rect">
            <a:avLst/>
          </a:prstGeom>
          <a:solidFill>
            <a:srgbClr val="F59E0B"/>
          </a:solidFill>
          <a:ln w="12700">
            <a:solidFill>
              <a:srgbClr val="F59E0B"/>
            </a:solidFill>
            <a:prstDash val="solid"/>
          </a:ln>
        </p:spPr>
        <p:txBody>
          <a:bodyPr/>
          <a:lstStyle/>
          <a:p>
            <a:endParaRPr lang="en-KE"/>
          </a:p>
        </p:txBody>
      </p:sp>
      <p:sp>
        <p:nvSpPr>
          <p:cNvPr id="6" name="Text 4"/>
          <p:cNvSpPr/>
          <p:nvPr/>
        </p:nvSpPr>
        <p:spPr>
          <a:xfrm>
            <a:off x="411480" y="1005840"/>
            <a:ext cx="4846320" cy="274320"/>
          </a:xfrm>
          <a:prstGeom prst="rect">
            <a:avLst/>
          </a:prstGeom>
          <a:noFill/>
          <a:ln/>
        </p:spPr>
        <p:txBody>
          <a:bodyPr wrap="square"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HOW IT WORKS</a:t>
            </a:r>
            <a:endParaRPr lang="en-US" sz="1000" dirty="0"/>
          </a:p>
        </p:txBody>
      </p:sp>
      <p:sp>
        <p:nvSpPr>
          <p:cNvPr id="7" name="Text 5"/>
          <p:cNvSpPr/>
          <p:nvPr/>
        </p:nvSpPr>
        <p:spPr>
          <a:xfrm>
            <a:off x="457200" y="1417320"/>
            <a:ext cx="4754880" cy="320040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1.  </a:t>
            </a:r>
            <a:r>
              <a:rPr lang="en-US" sz="1200" dirty="0">
                <a:solidFill>
                  <a:srgbClr val="1E293B"/>
                </a:solidFill>
                <a:latin typeface="Calibri" pitchFamily="34" charset="0"/>
                <a:ea typeface="Calibri" pitchFamily="34" charset="-122"/>
                <a:cs typeface="Calibri" pitchFamily="34" charset="-120"/>
              </a:rPr>
              <a:t>Start from bert-base-uncased (110M parameters, pretrained on Wikipedia + BookCorpus)
</a:t>
            </a:r>
            <a:r>
              <a:rPr lang="en-US" sz="1200" b="1" dirty="0">
                <a:solidFill>
                  <a:srgbClr val="1E293B"/>
                </a:solidFill>
                <a:latin typeface="Calibri" pitchFamily="34" charset="0"/>
                <a:ea typeface="Calibri" pitchFamily="34" charset="-122"/>
                <a:cs typeface="Calibri" pitchFamily="34" charset="-120"/>
              </a:rPr>
              <a:t>2.  </a:t>
            </a:r>
            <a:r>
              <a:rPr lang="en-US" sz="1200" dirty="0">
                <a:solidFill>
                  <a:srgbClr val="1E293B"/>
                </a:solidFill>
                <a:latin typeface="Calibri" pitchFamily="34" charset="0"/>
                <a:ea typeface="Calibri" pitchFamily="34" charset="-122"/>
                <a:cs typeface="Calibri" pitchFamily="34" charset="-120"/>
              </a:rPr>
              <a:t>Add a classification head on top of the [CLS] token
</a:t>
            </a:r>
            <a:r>
              <a:rPr lang="en-US" sz="1200" b="1" dirty="0">
                <a:solidFill>
                  <a:srgbClr val="1E293B"/>
                </a:solidFill>
                <a:latin typeface="Calibri" pitchFamily="34" charset="0"/>
                <a:ea typeface="Calibri" pitchFamily="34" charset="-122"/>
                <a:cs typeface="Calibri" pitchFamily="34" charset="-120"/>
              </a:rPr>
              <a:t>3.  </a:t>
            </a:r>
            <a:r>
              <a:rPr lang="en-US" sz="1200" dirty="0">
                <a:solidFill>
                  <a:srgbClr val="1E293B"/>
                </a:solidFill>
                <a:latin typeface="Calibri" pitchFamily="34" charset="0"/>
                <a:ea typeface="Calibri" pitchFamily="34" charset="-122"/>
                <a:cs typeface="Calibri" pitchFamily="34" charset="-120"/>
              </a:rPr>
              <a:t>Fine-tune the entire model end-to-end for 3 epochs
</a:t>
            </a:r>
            <a:r>
              <a:rPr lang="en-US" sz="1200" b="1" dirty="0">
                <a:solidFill>
                  <a:srgbClr val="1E293B"/>
                </a:solidFill>
                <a:latin typeface="Calibri" pitchFamily="34" charset="0"/>
                <a:ea typeface="Calibri" pitchFamily="34" charset="-122"/>
                <a:cs typeface="Calibri" pitchFamily="34" charset="-120"/>
              </a:rPr>
              <a:t>4.  </a:t>
            </a:r>
            <a:r>
              <a:rPr lang="en-US" sz="1200" dirty="0">
                <a:solidFill>
                  <a:srgbClr val="1E293B"/>
                </a:solidFill>
                <a:latin typeface="Calibri" pitchFamily="34" charset="0"/>
                <a:ea typeface="Calibri" pitchFamily="34" charset="-122"/>
                <a:cs typeface="Calibri" pitchFamily="34" charset="-120"/>
              </a:rPr>
              <a:t>AdamW optimizer + linear warmup scheduler (10% warmup)
</a:t>
            </a:r>
            <a:r>
              <a:rPr lang="en-US" sz="1200" b="1" dirty="0">
                <a:solidFill>
                  <a:srgbClr val="1E293B"/>
                </a:solidFill>
                <a:latin typeface="Calibri" pitchFamily="34" charset="0"/>
                <a:ea typeface="Calibri" pitchFamily="34" charset="-122"/>
                <a:cs typeface="Calibri" pitchFamily="34" charset="-120"/>
              </a:rPr>
              <a:t>5.  </a:t>
            </a:r>
            <a:r>
              <a:rPr lang="en-US" sz="1200" dirty="0">
                <a:solidFill>
                  <a:srgbClr val="1E293B"/>
                </a:solidFill>
                <a:latin typeface="Calibri" pitchFamily="34" charset="0"/>
                <a:ea typeface="Calibri" pitchFamily="34" charset="-122"/>
                <a:cs typeface="Calibri" pitchFamily="34" charset="-120"/>
              </a:rPr>
              <a:t>Gradient clipping (1.0) prevents exploding gradients</a:t>
            </a:r>
            <a:endParaRPr lang="en-US" sz="1200" dirty="0"/>
          </a:p>
        </p:txBody>
      </p:sp>
      <p:sp>
        <p:nvSpPr>
          <p:cNvPr id="8" name="Shape 6"/>
          <p:cNvSpPr/>
          <p:nvPr/>
        </p:nvSpPr>
        <p:spPr>
          <a:xfrm>
            <a:off x="5623560" y="868680"/>
            <a:ext cx="324612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9" name="Shape 7"/>
          <p:cNvSpPr/>
          <p:nvPr/>
        </p:nvSpPr>
        <p:spPr>
          <a:xfrm>
            <a:off x="5623560" y="868680"/>
            <a:ext cx="3246120" cy="54864"/>
          </a:xfrm>
          <a:prstGeom prst="rect">
            <a:avLst/>
          </a:prstGeom>
          <a:solidFill>
            <a:srgbClr val="F59E0B"/>
          </a:solidFill>
          <a:ln w="12700">
            <a:solidFill>
              <a:srgbClr val="F59E0B"/>
            </a:solidFill>
            <a:prstDash val="solid"/>
          </a:ln>
        </p:spPr>
        <p:txBody>
          <a:bodyPr/>
          <a:lstStyle/>
          <a:p>
            <a:endParaRPr lang="en-KE"/>
          </a:p>
        </p:txBody>
      </p:sp>
      <p:sp>
        <p:nvSpPr>
          <p:cNvPr id="10" name="Text 8"/>
          <p:cNvSpPr/>
          <p:nvPr/>
        </p:nvSpPr>
        <p:spPr>
          <a:xfrm>
            <a:off x="5760720" y="1005840"/>
            <a:ext cx="2926080" cy="274320"/>
          </a:xfrm>
          <a:prstGeom prst="rect">
            <a:avLst/>
          </a:prstGeom>
          <a:noFill/>
          <a:ln/>
        </p:spPr>
        <p:txBody>
          <a:bodyPr wrap="square"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PARAMETERS</a:t>
            </a:r>
            <a:endParaRPr lang="en-US" sz="1000" dirty="0"/>
          </a:p>
        </p:txBody>
      </p:sp>
      <p:sp>
        <p:nvSpPr>
          <p:cNvPr id="11" name="Text 9"/>
          <p:cNvSpPr/>
          <p:nvPr/>
        </p:nvSpPr>
        <p:spPr>
          <a:xfrm>
            <a:off x="5760720" y="1417320"/>
            <a:ext cx="182880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Epochs</a:t>
            </a:r>
            <a:endParaRPr lang="en-US" sz="1100" dirty="0"/>
          </a:p>
        </p:txBody>
      </p:sp>
      <p:sp>
        <p:nvSpPr>
          <p:cNvPr id="12" name="Text 10"/>
          <p:cNvSpPr/>
          <p:nvPr/>
        </p:nvSpPr>
        <p:spPr>
          <a:xfrm>
            <a:off x="7498080" y="1417320"/>
            <a:ext cx="1188720" cy="320040"/>
          </a:xfrm>
          <a:prstGeom prst="rect">
            <a:avLst/>
          </a:prstGeom>
          <a:noFill/>
          <a:ln/>
        </p:spPr>
        <p:txBody>
          <a:bodyPr wrap="square" rtlCol="0" anchor="ctr"/>
          <a:lstStyle/>
          <a:p>
            <a:pPr marL="0" indent="0" algn="r">
              <a:buNone/>
            </a:pPr>
            <a:r>
              <a:rPr lang="en-US" sz="1200" b="1" dirty="0">
                <a:solidFill>
                  <a:srgbClr val="F59E0B"/>
                </a:solidFill>
                <a:latin typeface="Calibri" pitchFamily="34" charset="0"/>
                <a:ea typeface="Calibri" pitchFamily="34" charset="-122"/>
                <a:cs typeface="Calibri" pitchFamily="34" charset="-120"/>
              </a:rPr>
              <a:t>3</a:t>
            </a:r>
            <a:endParaRPr lang="en-US" sz="1200" dirty="0"/>
          </a:p>
        </p:txBody>
      </p:sp>
      <p:sp>
        <p:nvSpPr>
          <p:cNvPr id="13" name="Shape 11"/>
          <p:cNvSpPr/>
          <p:nvPr/>
        </p:nvSpPr>
        <p:spPr>
          <a:xfrm>
            <a:off x="5760720" y="1764792"/>
            <a:ext cx="2651760" cy="0"/>
          </a:xfrm>
          <a:prstGeom prst="line">
            <a:avLst/>
          </a:prstGeom>
          <a:noFill/>
          <a:ln w="6350">
            <a:solidFill>
              <a:srgbClr val="E2E8F0"/>
            </a:solidFill>
            <a:prstDash val="solid"/>
          </a:ln>
        </p:spPr>
        <p:txBody>
          <a:bodyPr/>
          <a:lstStyle/>
          <a:p>
            <a:endParaRPr lang="en-KE"/>
          </a:p>
        </p:txBody>
      </p:sp>
      <p:sp>
        <p:nvSpPr>
          <p:cNvPr id="14" name="Text 12"/>
          <p:cNvSpPr/>
          <p:nvPr/>
        </p:nvSpPr>
        <p:spPr>
          <a:xfrm>
            <a:off x="5760720" y="1920240"/>
            <a:ext cx="182880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Batch size</a:t>
            </a:r>
            <a:endParaRPr lang="en-US" sz="1100" dirty="0"/>
          </a:p>
        </p:txBody>
      </p:sp>
      <p:sp>
        <p:nvSpPr>
          <p:cNvPr id="15" name="Text 13"/>
          <p:cNvSpPr/>
          <p:nvPr/>
        </p:nvSpPr>
        <p:spPr>
          <a:xfrm>
            <a:off x="7498080" y="1920240"/>
            <a:ext cx="1188720" cy="320040"/>
          </a:xfrm>
          <a:prstGeom prst="rect">
            <a:avLst/>
          </a:prstGeom>
          <a:noFill/>
          <a:ln/>
        </p:spPr>
        <p:txBody>
          <a:bodyPr wrap="square" rtlCol="0" anchor="ctr"/>
          <a:lstStyle/>
          <a:p>
            <a:pPr marL="0" indent="0" algn="r">
              <a:buNone/>
            </a:pPr>
            <a:r>
              <a:rPr lang="en-US" sz="1200" b="1" dirty="0">
                <a:solidFill>
                  <a:srgbClr val="F59E0B"/>
                </a:solidFill>
                <a:latin typeface="Calibri" pitchFamily="34" charset="0"/>
                <a:ea typeface="Calibri" pitchFamily="34" charset="-122"/>
                <a:cs typeface="Calibri" pitchFamily="34" charset="-120"/>
              </a:rPr>
              <a:t>16</a:t>
            </a:r>
            <a:endParaRPr lang="en-US" sz="1200" dirty="0"/>
          </a:p>
        </p:txBody>
      </p:sp>
      <p:sp>
        <p:nvSpPr>
          <p:cNvPr id="16" name="Shape 14"/>
          <p:cNvSpPr/>
          <p:nvPr/>
        </p:nvSpPr>
        <p:spPr>
          <a:xfrm>
            <a:off x="5760720" y="2267712"/>
            <a:ext cx="2651760" cy="0"/>
          </a:xfrm>
          <a:prstGeom prst="line">
            <a:avLst/>
          </a:prstGeom>
          <a:noFill/>
          <a:ln w="6350">
            <a:solidFill>
              <a:srgbClr val="E2E8F0"/>
            </a:solidFill>
            <a:prstDash val="solid"/>
          </a:ln>
        </p:spPr>
        <p:txBody>
          <a:bodyPr/>
          <a:lstStyle/>
          <a:p>
            <a:endParaRPr lang="en-KE"/>
          </a:p>
        </p:txBody>
      </p:sp>
      <p:sp>
        <p:nvSpPr>
          <p:cNvPr id="17" name="Text 15"/>
          <p:cNvSpPr/>
          <p:nvPr/>
        </p:nvSpPr>
        <p:spPr>
          <a:xfrm>
            <a:off x="5760720" y="2423160"/>
            <a:ext cx="182880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Learning rate</a:t>
            </a:r>
            <a:endParaRPr lang="en-US" sz="1100" dirty="0"/>
          </a:p>
        </p:txBody>
      </p:sp>
      <p:sp>
        <p:nvSpPr>
          <p:cNvPr id="18" name="Text 16"/>
          <p:cNvSpPr/>
          <p:nvPr/>
        </p:nvSpPr>
        <p:spPr>
          <a:xfrm>
            <a:off x="7498080" y="2423160"/>
            <a:ext cx="1188720" cy="320040"/>
          </a:xfrm>
          <a:prstGeom prst="rect">
            <a:avLst/>
          </a:prstGeom>
          <a:noFill/>
          <a:ln/>
        </p:spPr>
        <p:txBody>
          <a:bodyPr wrap="square" rtlCol="0" anchor="ctr"/>
          <a:lstStyle/>
          <a:p>
            <a:pPr marL="0" indent="0" algn="r">
              <a:buNone/>
            </a:pPr>
            <a:r>
              <a:rPr lang="en-US" sz="1200" b="1" dirty="0">
                <a:solidFill>
                  <a:srgbClr val="F59E0B"/>
                </a:solidFill>
                <a:latin typeface="Calibri" pitchFamily="34" charset="0"/>
                <a:ea typeface="Calibri" pitchFamily="34" charset="-122"/>
                <a:cs typeface="Calibri" pitchFamily="34" charset="-120"/>
              </a:rPr>
              <a:t>2e-5</a:t>
            </a:r>
            <a:endParaRPr lang="en-US" sz="1200" dirty="0"/>
          </a:p>
        </p:txBody>
      </p:sp>
      <p:sp>
        <p:nvSpPr>
          <p:cNvPr id="19" name="Shape 17"/>
          <p:cNvSpPr/>
          <p:nvPr/>
        </p:nvSpPr>
        <p:spPr>
          <a:xfrm>
            <a:off x="5760720" y="2770632"/>
            <a:ext cx="2651760" cy="0"/>
          </a:xfrm>
          <a:prstGeom prst="line">
            <a:avLst/>
          </a:prstGeom>
          <a:noFill/>
          <a:ln w="6350">
            <a:solidFill>
              <a:srgbClr val="E2E8F0"/>
            </a:solidFill>
            <a:prstDash val="solid"/>
          </a:ln>
        </p:spPr>
        <p:txBody>
          <a:bodyPr/>
          <a:lstStyle/>
          <a:p>
            <a:endParaRPr lang="en-KE"/>
          </a:p>
        </p:txBody>
      </p:sp>
      <p:sp>
        <p:nvSpPr>
          <p:cNvPr id="20" name="Text 18"/>
          <p:cNvSpPr/>
          <p:nvPr/>
        </p:nvSpPr>
        <p:spPr>
          <a:xfrm>
            <a:off x="5760720" y="2926080"/>
            <a:ext cx="182880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Max length</a:t>
            </a:r>
            <a:endParaRPr lang="en-US" sz="1100" dirty="0"/>
          </a:p>
        </p:txBody>
      </p:sp>
      <p:sp>
        <p:nvSpPr>
          <p:cNvPr id="21" name="Text 19"/>
          <p:cNvSpPr/>
          <p:nvPr/>
        </p:nvSpPr>
        <p:spPr>
          <a:xfrm>
            <a:off x="7498080" y="2926080"/>
            <a:ext cx="1188720" cy="320040"/>
          </a:xfrm>
          <a:prstGeom prst="rect">
            <a:avLst/>
          </a:prstGeom>
          <a:noFill/>
          <a:ln/>
        </p:spPr>
        <p:txBody>
          <a:bodyPr wrap="square" rtlCol="0" anchor="ctr"/>
          <a:lstStyle/>
          <a:p>
            <a:pPr marL="0" indent="0" algn="r">
              <a:buNone/>
            </a:pPr>
            <a:r>
              <a:rPr lang="en-US" sz="1200" b="1" dirty="0">
                <a:solidFill>
                  <a:srgbClr val="F59E0B"/>
                </a:solidFill>
                <a:latin typeface="Calibri" pitchFamily="34" charset="0"/>
                <a:ea typeface="Calibri" pitchFamily="34" charset="-122"/>
                <a:cs typeface="Calibri" pitchFamily="34" charset="-120"/>
              </a:rPr>
              <a:t>128 tokens</a:t>
            </a:r>
            <a:endParaRPr lang="en-US" sz="1200" dirty="0"/>
          </a:p>
        </p:txBody>
      </p:sp>
      <p:sp>
        <p:nvSpPr>
          <p:cNvPr id="25" name="Shape 23"/>
          <p:cNvSpPr/>
          <p:nvPr/>
        </p:nvSpPr>
        <p:spPr>
          <a:xfrm>
            <a:off x="5943600" y="3556339"/>
            <a:ext cx="2651760" cy="0"/>
          </a:xfrm>
          <a:prstGeom prst="line">
            <a:avLst/>
          </a:prstGeom>
          <a:noFill/>
          <a:ln w="6350">
            <a:solidFill>
              <a:srgbClr val="E2E8F0"/>
            </a:solidFill>
            <a:prstDash val="solid"/>
          </a:ln>
        </p:spPr>
        <p:txBody>
          <a:bodyPr/>
          <a:lstStyle/>
          <a:p>
            <a:endParaRPr lang="en-KE"/>
          </a:p>
        </p:txBody>
      </p:sp>
      <p:sp>
        <p:nvSpPr>
          <p:cNvPr id="26" name="Text 24"/>
          <p:cNvSpPr/>
          <p:nvPr/>
        </p:nvSpPr>
        <p:spPr>
          <a:xfrm>
            <a:off x="5760720" y="3931920"/>
            <a:ext cx="182880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Final accuracy</a:t>
            </a:r>
            <a:endParaRPr lang="en-US" sz="1100" dirty="0"/>
          </a:p>
        </p:txBody>
      </p:sp>
      <p:sp>
        <p:nvSpPr>
          <p:cNvPr id="27" name="Text 25"/>
          <p:cNvSpPr/>
          <p:nvPr/>
        </p:nvSpPr>
        <p:spPr>
          <a:xfrm>
            <a:off x="7498080" y="3931920"/>
            <a:ext cx="1188720" cy="320040"/>
          </a:xfrm>
          <a:prstGeom prst="rect">
            <a:avLst/>
          </a:prstGeom>
          <a:noFill/>
          <a:ln/>
        </p:spPr>
        <p:txBody>
          <a:bodyPr wrap="square" rtlCol="0" anchor="ctr"/>
          <a:lstStyle/>
          <a:p>
            <a:pPr marL="0" indent="0" algn="r">
              <a:buNone/>
            </a:pPr>
            <a:r>
              <a:rPr lang="en-US" sz="1200" b="1" dirty="0">
                <a:solidFill>
                  <a:srgbClr val="10B981"/>
                </a:solidFill>
                <a:latin typeface="Calibri" pitchFamily="34" charset="0"/>
                <a:ea typeface="Calibri" pitchFamily="34" charset="-122"/>
                <a:cs typeface="Calibri" pitchFamily="34" charset="-120"/>
              </a:rPr>
              <a:t>0.698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1AE9F5-21D6-5660-5E1C-3D47DEA3C8CA}"/>
              </a:ext>
            </a:extLst>
          </p:cNvPr>
          <p:cNvPicPr>
            <a:picLocks noChangeAspect="1"/>
          </p:cNvPicPr>
          <p:nvPr/>
        </p:nvPicPr>
        <p:blipFill>
          <a:blip r:embed="rId2"/>
          <a:stretch>
            <a:fillRect/>
          </a:stretch>
        </p:blipFill>
        <p:spPr>
          <a:xfrm>
            <a:off x="0" y="118533"/>
            <a:ext cx="9144000" cy="4744181"/>
          </a:xfrm>
          <a:prstGeom prst="rect">
            <a:avLst/>
          </a:prstGeom>
        </p:spPr>
      </p:pic>
    </p:spTree>
    <p:extLst>
      <p:ext uri="{BB962C8B-B14F-4D97-AF65-F5344CB8AC3E}">
        <p14:creationId xmlns:p14="http://schemas.microsoft.com/office/powerpoint/2010/main" val="323719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 3: BERT + MLM  →  0.710</a:t>
            </a:r>
            <a:endParaRPr lang="en-US" sz="2200" dirty="0"/>
          </a:p>
        </p:txBody>
      </p:sp>
      <p:sp>
        <p:nvSpPr>
          <p:cNvPr id="4" name="Shape 2"/>
          <p:cNvSpPr/>
          <p:nvPr/>
        </p:nvSpPr>
        <p:spPr>
          <a:xfrm>
            <a:off x="274320" y="868680"/>
            <a:ext cx="4023360" cy="283464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5" name="Shape 3"/>
          <p:cNvSpPr/>
          <p:nvPr/>
        </p:nvSpPr>
        <p:spPr>
          <a:xfrm>
            <a:off x="274320" y="868680"/>
            <a:ext cx="4023360" cy="320040"/>
          </a:xfrm>
          <a:prstGeom prst="rect">
            <a:avLst/>
          </a:prstGeom>
          <a:solidFill>
            <a:srgbClr val="8B5CF6"/>
          </a:solidFill>
          <a:ln w="12700">
            <a:solidFill>
              <a:srgbClr val="8B5CF6"/>
            </a:solidFill>
            <a:prstDash val="solid"/>
          </a:ln>
        </p:spPr>
        <p:txBody>
          <a:bodyPr/>
          <a:lstStyle/>
          <a:p>
            <a:endParaRPr lang="en-KE"/>
          </a:p>
        </p:txBody>
      </p:sp>
      <p:sp>
        <p:nvSpPr>
          <p:cNvPr id="6" name="Text 4"/>
          <p:cNvSpPr/>
          <p:nvPr/>
        </p:nvSpPr>
        <p:spPr>
          <a:xfrm>
            <a:off x="411480" y="868680"/>
            <a:ext cx="374904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STAGE 1 — MLM PRETRAINING</a:t>
            </a:r>
            <a:endParaRPr lang="en-US" sz="1100" dirty="0"/>
          </a:p>
        </p:txBody>
      </p:sp>
      <p:sp>
        <p:nvSpPr>
          <p:cNvPr id="7" name="Text 5"/>
          <p:cNvSpPr/>
          <p:nvPr/>
        </p:nvSpPr>
        <p:spPr>
          <a:xfrm>
            <a:off x="411480" y="1298448"/>
            <a:ext cx="3749040" cy="219456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Mask 15% of tokens across all 18,846 newsgroup documents. Train BERT to predict the missing words.</a:t>
            </a:r>
            <a:endParaRPr lang="en-US" sz="1150" dirty="0"/>
          </a:p>
          <a:p>
            <a:pPr marL="0" indent="0">
              <a:buNone/>
            </a:pP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No labels needed — the text teaches itself (self-supervised).</a:t>
            </a:r>
            <a:endParaRPr lang="en-US" sz="1150" dirty="0"/>
          </a:p>
          <a:p>
            <a:pPr marL="0" indent="0">
              <a:buNone/>
            </a:pP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Runs for 2 epochs. MLM loss: 2.46 → 2.30</a:t>
            </a:r>
            <a:endParaRPr lang="en-US" sz="1150" dirty="0"/>
          </a:p>
        </p:txBody>
      </p:sp>
      <p:sp>
        <p:nvSpPr>
          <p:cNvPr id="8" name="Text 6"/>
          <p:cNvSpPr/>
          <p:nvPr/>
        </p:nvSpPr>
        <p:spPr>
          <a:xfrm>
            <a:off x="4343400" y="2011680"/>
            <a:ext cx="457200" cy="457200"/>
          </a:xfrm>
          <a:prstGeom prst="rect">
            <a:avLst/>
          </a:prstGeom>
          <a:noFill/>
          <a:ln/>
        </p:spPr>
        <p:txBody>
          <a:bodyPr wrap="square" rtlCol="0" anchor="ctr"/>
          <a:lstStyle/>
          <a:p>
            <a:pPr marL="0" indent="0" algn="ctr">
              <a:buNone/>
            </a:pPr>
            <a:r>
              <a:rPr lang="en-US" sz="2400" b="1" dirty="0">
                <a:solidFill>
                  <a:srgbClr val="3B82F6"/>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4846320" y="868680"/>
            <a:ext cx="4023360" cy="283464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0" name="Shape 8"/>
          <p:cNvSpPr/>
          <p:nvPr/>
        </p:nvSpPr>
        <p:spPr>
          <a:xfrm>
            <a:off x="4846320" y="868680"/>
            <a:ext cx="4023360" cy="320040"/>
          </a:xfrm>
          <a:prstGeom prst="rect">
            <a:avLst/>
          </a:prstGeom>
          <a:solidFill>
            <a:srgbClr val="3B82F6"/>
          </a:solidFill>
          <a:ln w="12700">
            <a:solidFill>
              <a:srgbClr val="3B82F6"/>
            </a:solidFill>
            <a:prstDash val="solid"/>
          </a:ln>
        </p:spPr>
        <p:txBody>
          <a:bodyPr/>
          <a:lstStyle/>
          <a:p>
            <a:endParaRPr lang="en-KE"/>
          </a:p>
        </p:txBody>
      </p:sp>
      <p:sp>
        <p:nvSpPr>
          <p:cNvPr id="11" name="Text 9"/>
          <p:cNvSpPr/>
          <p:nvPr/>
        </p:nvSpPr>
        <p:spPr>
          <a:xfrm>
            <a:off x="4983480" y="868680"/>
            <a:ext cx="374904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STAGE 2 — CLASSIFICATION</a:t>
            </a:r>
            <a:endParaRPr lang="en-US" sz="1100" dirty="0"/>
          </a:p>
        </p:txBody>
      </p:sp>
      <p:sp>
        <p:nvSpPr>
          <p:cNvPr id="12" name="Text 10"/>
          <p:cNvSpPr/>
          <p:nvPr/>
        </p:nvSpPr>
        <p:spPr>
          <a:xfrm>
            <a:off x="4983480" y="1298448"/>
            <a:ext cx="3749040" cy="219456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Load MLM-adapted weights. Add fresh classification head on [CLS] token.</a:t>
            </a:r>
            <a:endParaRPr lang="en-US" sz="1150" dirty="0"/>
          </a:p>
          <a:p>
            <a:pPr marL="0" indent="0">
              <a:buNone/>
            </a:pP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Fine-tune for 3 epochs.</a:t>
            </a:r>
            <a:endParaRPr lang="en-US" sz="1150" dirty="0"/>
          </a:p>
          <a:p>
            <a:pPr marL="0" indent="0">
              <a:buNone/>
            </a:pP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Result: 0.710 vs 0.698 in Task 2 (+0.012)</a:t>
            </a:r>
            <a:endParaRPr lang="en-US" sz="1150" dirty="0"/>
          </a:p>
        </p:txBody>
      </p:sp>
      <p:sp>
        <p:nvSpPr>
          <p:cNvPr id="13" name="Shape 11"/>
          <p:cNvSpPr/>
          <p:nvPr/>
        </p:nvSpPr>
        <p:spPr>
          <a:xfrm>
            <a:off x="274320" y="3840480"/>
            <a:ext cx="8595360" cy="1005840"/>
          </a:xfrm>
          <a:prstGeom prst="rect">
            <a:avLst/>
          </a:prstGeom>
          <a:solidFill>
            <a:srgbClr val="F0F9FF"/>
          </a:solidFill>
          <a:ln w="12700">
            <a:solidFill>
              <a:srgbClr val="BAE6FD"/>
            </a:solidFill>
            <a:prstDash val="solid"/>
          </a:ln>
        </p:spPr>
        <p:txBody>
          <a:bodyPr/>
          <a:lstStyle/>
          <a:p>
            <a:endParaRPr lang="en-KE"/>
          </a:p>
        </p:txBody>
      </p:sp>
      <p:sp>
        <p:nvSpPr>
          <p:cNvPr id="14" name="Text 12"/>
          <p:cNvSpPr/>
          <p:nvPr/>
        </p:nvSpPr>
        <p:spPr>
          <a:xfrm>
            <a:off x="457200" y="3913632"/>
            <a:ext cx="8229600" cy="822960"/>
          </a:xfrm>
          <a:prstGeom prst="rect">
            <a:avLst/>
          </a:prstGeom>
          <a:noFill/>
          <a:ln/>
        </p:spPr>
        <p:txBody>
          <a:bodyPr wrap="square" rtlCol="0" anchor="ctr"/>
          <a:lstStyle/>
          <a:p>
            <a:pPr marL="0" indent="0">
              <a:buNone/>
            </a:pPr>
            <a:r>
              <a:rPr lang="en-US" sz="1100" b="1" dirty="0">
                <a:solidFill>
                  <a:srgbClr val="0369A1"/>
                </a:solidFill>
                <a:latin typeface="Calibri" pitchFamily="34" charset="0"/>
                <a:ea typeface="Calibri" pitchFamily="34" charset="-122"/>
                <a:cs typeface="Calibri" pitchFamily="34" charset="-120"/>
              </a:rPr>
              <a:t>Why it helps:  </a:t>
            </a:r>
            <a:r>
              <a:rPr lang="en-US" sz="1100" dirty="0">
                <a:solidFill>
                  <a:srgbClr val="1E293B"/>
                </a:solidFill>
                <a:latin typeface="Calibri" pitchFamily="34" charset="0"/>
                <a:ea typeface="Calibri" pitchFamily="34" charset="-122"/>
                <a:cs typeface="Calibri" pitchFamily="34" charset="-120"/>
              </a:rPr>
              <a:t>Standard BERT was pretrained on Wikipedia and books — formal, clean text. Newsgroup posts contain technical jargon, abbreviations and internet language. The MLM stage lets BERT adapt its internal representations to this specific domain before classification, so the starting point for fine-tuning is better.</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69DBFA-089E-1DEE-470E-CDEA2ADC17B2}"/>
              </a:ext>
            </a:extLst>
          </p:cNvPr>
          <p:cNvPicPr>
            <a:picLocks noChangeAspect="1"/>
          </p:cNvPicPr>
          <p:nvPr/>
        </p:nvPicPr>
        <p:blipFill>
          <a:blip r:embed="rId2"/>
          <a:stretch>
            <a:fillRect/>
          </a:stretch>
        </p:blipFill>
        <p:spPr>
          <a:xfrm>
            <a:off x="0" y="143933"/>
            <a:ext cx="9144000" cy="4817533"/>
          </a:xfrm>
          <a:prstGeom prst="rect">
            <a:avLst/>
          </a:prstGeom>
        </p:spPr>
      </p:pic>
    </p:spTree>
    <p:extLst>
      <p:ext uri="{BB962C8B-B14F-4D97-AF65-F5344CB8AC3E}">
        <p14:creationId xmlns:p14="http://schemas.microsoft.com/office/powerpoint/2010/main" val="3354894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Task 4 + Bonus: Llama-3 Experiments</a:t>
            </a:r>
            <a:endParaRPr lang="en-US" sz="2200" dirty="0"/>
          </a:p>
        </p:txBody>
      </p:sp>
      <p:sp>
        <p:nvSpPr>
          <p:cNvPr id="4" name="Shape 2"/>
          <p:cNvSpPr/>
          <p:nvPr/>
        </p:nvSpPr>
        <p:spPr>
          <a:xfrm>
            <a:off x="228600" y="868680"/>
            <a:ext cx="283464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5" name="Shape 3"/>
          <p:cNvSpPr/>
          <p:nvPr/>
        </p:nvSpPr>
        <p:spPr>
          <a:xfrm>
            <a:off x="228600" y="868680"/>
            <a:ext cx="2834640" cy="320040"/>
          </a:xfrm>
          <a:prstGeom prst="rect">
            <a:avLst/>
          </a:prstGeom>
          <a:solidFill>
            <a:srgbClr val="EF4444"/>
          </a:solidFill>
          <a:ln w="12700">
            <a:solidFill>
              <a:srgbClr val="EF4444"/>
            </a:solidFill>
            <a:prstDash val="solid"/>
          </a:ln>
        </p:spPr>
        <p:txBody>
          <a:bodyPr/>
          <a:lstStyle/>
          <a:p>
            <a:endParaRPr lang="en-KE"/>
          </a:p>
        </p:txBody>
      </p:sp>
      <p:sp>
        <p:nvSpPr>
          <p:cNvPr id="6" name="Text 4"/>
          <p:cNvSpPr/>
          <p:nvPr/>
        </p:nvSpPr>
        <p:spPr>
          <a:xfrm>
            <a:off x="338328" y="868680"/>
            <a:ext cx="18288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ZERO-SHOT</a:t>
            </a:r>
            <a:endParaRPr lang="en-US" sz="1100" dirty="0"/>
          </a:p>
        </p:txBody>
      </p:sp>
      <p:sp>
        <p:nvSpPr>
          <p:cNvPr id="7" name="Text 5"/>
          <p:cNvSpPr/>
          <p:nvPr/>
        </p:nvSpPr>
        <p:spPr>
          <a:xfrm>
            <a:off x="2057400" y="868680"/>
            <a:ext cx="822960" cy="32004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0.255</a:t>
            </a:r>
            <a:endParaRPr lang="en-US" sz="1400" dirty="0"/>
          </a:p>
        </p:txBody>
      </p:sp>
      <p:sp>
        <p:nvSpPr>
          <p:cNvPr id="8" name="Text 6"/>
          <p:cNvSpPr/>
          <p:nvPr/>
        </p:nvSpPr>
        <p:spPr>
          <a:xfrm>
            <a:off x="365760" y="1325880"/>
            <a:ext cx="2560320" cy="3200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 examples given. Prompted Llama-3 with the text + 20 class names. Achieves 5× better than random (0.05) but struggles to distinguish 20 similar categories without training.</a:t>
            </a:r>
            <a:endParaRPr lang="en-US" sz="1100" dirty="0"/>
          </a:p>
        </p:txBody>
      </p:sp>
      <p:sp>
        <p:nvSpPr>
          <p:cNvPr id="9" name="Shape 7"/>
          <p:cNvSpPr/>
          <p:nvPr/>
        </p:nvSpPr>
        <p:spPr>
          <a:xfrm>
            <a:off x="3246120" y="868680"/>
            <a:ext cx="283464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0" name="Shape 8"/>
          <p:cNvSpPr/>
          <p:nvPr/>
        </p:nvSpPr>
        <p:spPr>
          <a:xfrm>
            <a:off x="3246120" y="868680"/>
            <a:ext cx="2834640" cy="320040"/>
          </a:xfrm>
          <a:prstGeom prst="rect">
            <a:avLst/>
          </a:prstGeom>
          <a:solidFill>
            <a:srgbClr val="F97316"/>
          </a:solidFill>
          <a:ln w="12700">
            <a:solidFill>
              <a:srgbClr val="F97316"/>
            </a:solidFill>
            <a:prstDash val="solid"/>
          </a:ln>
        </p:spPr>
        <p:txBody>
          <a:bodyPr/>
          <a:lstStyle/>
          <a:p>
            <a:endParaRPr lang="en-KE"/>
          </a:p>
        </p:txBody>
      </p:sp>
      <p:sp>
        <p:nvSpPr>
          <p:cNvPr id="11" name="Text 9"/>
          <p:cNvSpPr/>
          <p:nvPr/>
        </p:nvSpPr>
        <p:spPr>
          <a:xfrm>
            <a:off x="3355848" y="868680"/>
            <a:ext cx="18288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FEW-SHOT</a:t>
            </a:r>
            <a:endParaRPr lang="en-US" sz="1100" dirty="0"/>
          </a:p>
        </p:txBody>
      </p:sp>
      <p:sp>
        <p:nvSpPr>
          <p:cNvPr id="12" name="Text 10"/>
          <p:cNvSpPr/>
          <p:nvPr/>
        </p:nvSpPr>
        <p:spPr>
          <a:xfrm>
            <a:off x="5074920" y="868680"/>
            <a:ext cx="822960" cy="32004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0.430</a:t>
            </a:r>
            <a:endParaRPr lang="en-US" sz="1400" dirty="0"/>
          </a:p>
        </p:txBody>
      </p:sp>
      <p:sp>
        <p:nvSpPr>
          <p:cNvPr id="13" name="Text 11"/>
          <p:cNvSpPr/>
          <p:nvPr/>
        </p:nvSpPr>
        <p:spPr>
          <a:xfrm>
            <a:off x="3383280" y="1325880"/>
            <a:ext cx="2560320" cy="3200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One labeled example per class provided in the prompt. Model follows the pattern and improves significantly over zero-shot. Shows that in-context examples help LLMs on fine-grained classification.</a:t>
            </a:r>
            <a:endParaRPr lang="en-US" sz="1100" dirty="0"/>
          </a:p>
        </p:txBody>
      </p:sp>
      <p:sp>
        <p:nvSpPr>
          <p:cNvPr id="14" name="Shape 12"/>
          <p:cNvSpPr/>
          <p:nvPr/>
        </p:nvSpPr>
        <p:spPr>
          <a:xfrm>
            <a:off x="6263640" y="868680"/>
            <a:ext cx="2834640" cy="3931920"/>
          </a:xfrm>
          <a:prstGeom prst="rect">
            <a:avLst/>
          </a:prstGeom>
          <a:solidFill>
            <a:srgbClr val="FFFFFF"/>
          </a:solidFill>
          <a:ln/>
          <a:effectLst>
            <a:outerShdw blurRad="101600" dist="38100" dir="8700000" algn="bl" rotWithShape="0">
              <a:srgbClr val="000000">
                <a:alpha val="8000"/>
              </a:srgbClr>
            </a:outerShdw>
          </a:effectLst>
        </p:spPr>
        <p:txBody>
          <a:bodyPr/>
          <a:lstStyle/>
          <a:p>
            <a:endParaRPr lang="en-KE"/>
          </a:p>
        </p:txBody>
      </p:sp>
      <p:sp>
        <p:nvSpPr>
          <p:cNvPr id="15" name="Shape 13"/>
          <p:cNvSpPr/>
          <p:nvPr/>
        </p:nvSpPr>
        <p:spPr>
          <a:xfrm>
            <a:off x="6263640" y="868680"/>
            <a:ext cx="2834640" cy="320040"/>
          </a:xfrm>
          <a:prstGeom prst="rect">
            <a:avLst/>
          </a:prstGeom>
          <a:solidFill>
            <a:srgbClr val="EC4899"/>
          </a:solidFill>
          <a:ln w="12700">
            <a:solidFill>
              <a:srgbClr val="EC4899"/>
            </a:solidFill>
            <a:prstDash val="solid"/>
          </a:ln>
        </p:spPr>
        <p:txBody>
          <a:bodyPr/>
          <a:lstStyle/>
          <a:p>
            <a:endParaRPr lang="en-KE"/>
          </a:p>
        </p:txBody>
      </p:sp>
      <p:sp>
        <p:nvSpPr>
          <p:cNvPr id="16" name="Text 14"/>
          <p:cNvSpPr/>
          <p:nvPr/>
        </p:nvSpPr>
        <p:spPr>
          <a:xfrm>
            <a:off x="6373368" y="868680"/>
            <a:ext cx="182880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QLORA</a:t>
            </a:r>
            <a:endParaRPr lang="en-US" sz="1100" dirty="0"/>
          </a:p>
        </p:txBody>
      </p:sp>
      <p:sp>
        <p:nvSpPr>
          <p:cNvPr id="17" name="Text 15"/>
          <p:cNvSpPr/>
          <p:nvPr/>
        </p:nvSpPr>
        <p:spPr>
          <a:xfrm>
            <a:off x="8092440" y="868680"/>
            <a:ext cx="822960" cy="32004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0.645</a:t>
            </a:r>
            <a:endParaRPr lang="en-US" sz="1400" dirty="0"/>
          </a:p>
        </p:txBody>
      </p:sp>
      <p:sp>
        <p:nvSpPr>
          <p:cNvPr id="18" name="Text 16"/>
          <p:cNvSpPr/>
          <p:nvPr/>
        </p:nvSpPr>
        <p:spPr>
          <a:xfrm>
            <a:off x="6400800" y="1325880"/>
            <a:ext cx="2560320" cy="3200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Fine-tuned LoRA adapters on top of Llama-3. Only ~0.04% of 8B parameters trained. Shows that task-specific training dramatically outperforms pure prompting.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64E26E-4A95-3554-68B4-C7198C263C52}"/>
              </a:ext>
            </a:extLst>
          </p:cNvPr>
          <p:cNvPicPr>
            <a:picLocks noChangeAspect="1"/>
          </p:cNvPicPr>
          <p:nvPr/>
        </p:nvPicPr>
        <p:blipFill>
          <a:blip r:embed="rId3"/>
          <a:stretch>
            <a:fillRect/>
          </a:stretch>
        </p:blipFill>
        <p:spPr>
          <a:xfrm>
            <a:off x="0" y="1"/>
            <a:ext cx="9144000" cy="5143500"/>
          </a:xfrm>
          <a:prstGeom prst="rect">
            <a:avLst/>
          </a:prstGeom>
        </p:spPr>
      </p:pic>
    </p:spTree>
    <p:extLst>
      <p:ext uri="{BB962C8B-B14F-4D97-AF65-F5344CB8AC3E}">
        <p14:creationId xmlns:p14="http://schemas.microsoft.com/office/powerpoint/2010/main" val="265936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F172A"/>
          </a:solidFill>
          <a:ln w="12700">
            <a:solidFill>
              <a:srgbClr val="0F172A"/>
            </a:solidFill>
            <a:prstDash val="solid"/>
          </a:ln>
        </p:spPr>
        <p:txBody>
          <a:bodyPr/>
          <a:lstStyle/>
          <a:p>
            <a:endParaRPr lang="en-KE"/>
          </a:p>
        </p:txBody>
      </p:sp>
      <p:sp>
        <p:nvSpPr>
          <p:cNvPr id="3" name="Text 1"/>
          <p:cNvSpPr/>
          <p:nvPr/>
        </p:nvSpPr>
        <p:spPr>
          <a:xfrm>
            <a:off x="365760" y="0"/>
            <a:ext cx="8229600" cy="6858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&amp; Comparison</a:t>
            </a:r>
            <a:endParaRPr lang="en-US" sz="2200" dirty="0"/>
          </a:p>
        </p:txBody>
      </p:sp>
      <p:graphicFrame>
        <p:nvGraphicFramePr>
          <p:cNvPr id="4" name="Chart 0"/>
          <p:cNvGraphicFramePr/>
          <p:nvPr>
            <p:extLst>
              <p:ext uri="{D42A27DB-BD31-4B8C-83A1-F6EECF244321}">
                <p14:modId xmlns:p14="http://schemas.microsoft.com/office/powerpoint/2010/main" val="681075355"/>
              </p:ext>
            </p:extLst>
          </p:nvPr>
        </p:nvGraphicFramePr>
        <p:xfrm>
          <a:off x="274320" y="777240"/>
          <a:ext cx="85953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274320" y="4526280"/>
            <a:ext cx="8595360" cy="365760"/>
          </a:xfrm>
          <a:prstGeom prst="rect">
            <a:avLst/>
          </a:prstGeom>
          <a:solidFill>
            <a:srgbClr val="FEF9C3"/>
          </a:solidFill>
          <a:ln w="12700">
            <a:solidFill>
              <a:srgbClr val="FDE047"/>
            </a:solidFill>
            <a:prstDash val="solid"/>
          </a:ln>
        </p:spPr>
        <p:txBody>
          <a:bodyPr/>
          <a:lstStyle/>
          <a:p>
            <a:endParaRPr lang="en-KE"/>
          </a:p>
        </p:txBody>
      </p:sp>
      <p:sp>
        <p:nvSpPr>
          <p:cNvPr id="6" name="Text 3"/>
          <p:cNvSpPr/>
          <p:nvPr/>
        </p:nvSpPr>
        <p:spPr>
          <a:xfrm>
            <a:off x="457200" y="4544568"/>
            <a:ext cx="8229600" cy="320040"/>
          </a:xfrm>
          <a:prstGeom prst="rect">
            <a:avLst/>
          </a:prstGeom>
          <a:noFill/>
          <a:ln/>
        </p:spPr>
        <p:txBody>
          <a:bodyPr wrap="square" rtlCol="0" anchor="ctr"/>
          <a:lstStyle/>
          <a:p>
            <a:pPr marL="0" indent="0" algn="ctr">
              <a:buNone/>
            </a:pPr>
            <a:r>
              <a:rPr lang="en-US" sz="1000" i="1" dirty="0">
                <a:solidFill>
                  <a:srgbClr val="713F12"/>
                </a:solidFill>
                <a:latin typeface="Calibri" pitchFamily="34" charset="0"/>
                <a:ea typeface="Calibri" pitchFamily="34" charset="-122"/>
                <a:cs typeface="Calibri" pitchFamily="34" charset="-120"/>
              </a:rPr>
              <a:t>📊 This shows all the models final comparison performance </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3B82F6"/>
          </a:solidFill>
          <a:ln w="12700">
            <a:solidFill>
              <a:srgbClr val="3B82F6"/>
            </a:solidFill>
            <a:prstDash val="solid"/>
          </a:ln>
        </p:spPr>
        <p:txBody>
          <a:bodyPr/>
          <a:lstStyle/>
          <a:p>
            <a:endParaRPr lang="en-KE"/>
          </a:p>
        </p:txBody>
      </p:sp>
      <p:sp>
        <p:nvSpPr>
          <p:cNvPr id="3" name="Text 1"/>
          <p:cNvSpPr/>
          <p:nvPr/>
        </p:nvSpPr>
        <p:spPr>
          <a:xfrm>
            <a:off x="502920" y="320040"/>
            <a:ext cx="77724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4" name="Shape 2"/>
          <p:cNvSpPr/>
          <p:nvPr/>
        </p:nvSpPr>
        <p:spPr>
          <a:xfrm>
            <a:off x="502920" y="960120"/>
            <a:ext cx="2743200" cy="0"/>
          </a:xfrm>
          <a:prstGeom prst="line">
            <a:avLst/>
          </a:prstGeom>
          <a:noFill/>
          <a:ln w="25400">
            <a:solidFill>
              <a:srgbClr val="3B82F6"/>
            </a:solidFill>
            <a:prstDash val="solid"/>
          </a:ln>
        </p:spPr>
        <p:txBody>
          <a:bodyPr/>
          <a:lstStyle/>
          <a:p>
            <a:endParaRPr lang="en-KE"/>
          </a:p>
        </p:txBody>
      </p:sp>
      <p:sp>
        <p:nvSpPr>
          <p:cNvPr id="5" name="Shape 3"/>
          <p:cNvSpPr/>
          <p:nvPr/>
        </p:nvSpPr>
        <p:spPr>
          <a:xfrm>
            <a:off x="457200" y="1143000"/>
            <a:ext cx="4114800" cy="1645920"/>
          </a:xfrm>
          <a:prstGeom prst="rect">
            <a:avLst/>
          </a:prstGeom>
          <a:solidFill>
            <a:srgbClr val="1E293B"/>
          </a:solidFill>
          <a:ln/>
        </p:spPr>
        <p:txBody>
          <a:bodyPr/>
          <a:lstStyle/>
          <a:p>
            <a:endParaRPr lang="en-KE"/>
          </a:p>
        </p:txBody>
      </p:sp>
      <p:sp>
        <p:nvSpPr>
          <p:cNvPr id="6" name="Shape 4"/>
          <p:cNvSpPr/>
          <p:nvPr/>
        </p:nvSpPr>
        <p:spPr>
          <a:xfrm>
            <a:off x="457200" y="1143000"/>
            <a:ext cx="365760" cy="1645920"/>
          </a:xfrm>
          <a:prstGeom prst="rect">
            <a:avLst/>
          </a:prstGeom>
          <a:solidFill>
            <a:srgbClr val="3B82F6"/>
          </a:solidFill>
          <a:ln w="12700">
            <a:solidFill>
              <a:srgbClr val="3B82F6"/>
            </a:solidFill>
            <a:prstDash val="solid"/>
          </a:ln>
        </p:spPr>
        <p:txBody>
          <a:bodyPr/>
          <a:lstStyle/>
          <a:p>
            <a:endParaRPr lang="en-KE"/>
          </a:p>
        </p:txBody>
      </p:sp>
      <p:sp>
        <p:nvSpPr>
          <p:cNvPr id="7" name="Text 5"/>
          <p:cNvSpPr/>
          <p:nvPr/>
        </p:nvSpPr>
        <p:spPr>
          <a:xfrm>
            <a:off x="502920" y="1197864"/>
            <a:ext cx="274320" cy="365760"/>
          </a:xfrm>
          <a:prstGeom prst="rect">
            <a:avLst/>
          </a:prstGeom>
          <a:noFill/>
          <a:ln/>
        </p:spPr>
        <p:txBody>
          <a:bodyPr wrap="square"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914400" y="1252728"/>
            <a:ext cx="35204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Fine-tuning beats prompting</a:t>
            </a:r>
            <a:endParaRPr lang="en-US" sz="1200" dirty="0"/>
          </a:p>
        </p:txBody>
      </p:sp>
      <p:sp>
        <p:nvSpPr>
          <p:cNvPr id="9" name="Text 7"/>
          <p:cNvSpPr/>
          <p:nvPr/>
        </p:nvSpPr>
        <p:spPr>
          <a:xfrm>
            <a:off x="914400" y="1618488"/>
            <a:ext cx="3520440" cy="10058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BERT at 0.698 crushes Llama-3 zero-shot at 0.255 — a much larger model. Task-specific training matters more than model size.</a:t>
            </a:r>
            <a:endParaRPr lang="en-US" sz="1050" dirty="0"/>
          </a:p>
        </p:txBody>
      </p:sp>
      <p:sp>
        <p:nvSpPr>
          <p:cNvPr id="10" name="Shape 8"/>
          <p:cNvSpPr/>
          <p:nvPr/>
        </p:nvSpPr>
        <p:spPr>
          <a:xfrm>
            <a:off x="4846320" y="1143000"/>
            <a:ext cx="4114800" cy="1645920"/>
          </a:xfrm>
          <a:prstGeom prst="rect">
            <a:avLst/>
          </a:prstGeom>
          <a:solidFill>
            <a:srgbClr val="1E293B"/>
          </a:solidFill>
          <a:ln/>
        </p:spPr>
        <p:txBody>
          <a:bodyPr/>
          <a:lstStyle/>
          <a:p>
            <a:endParaRPr lang="en-KE"/>
          </a:p>
        </p:txBody>
      </p:sp>
      <p:sp>
        <p:nvSpPr>
          <p:cNvPr id="11" name="Shape 9"/>
          <p:cNvSpPr/>
          <p:nvPr/>
        </p:nvSpPr>
        <p:spPr>
          <a:xfrm>
            <a:off x="4846320" y="1143000"/>
            <a:ext cx="365760" cy="1645920"/>
          </a:xfrm>
          <a:prstGeom prst="rect">
            <a:avLst/>
          </a:prstGeom>
          <a:solidFill>
            <a:srgbClr val="14B8A6"/>
          </a:solidFill>
          <a:ln w="12700">
            <a:solidFill>
              <a:srgbClr val="14B8A6"/>
            </a:solidFill>
            <a:prstDash val="solid"/>
          </a:ln>
        </p:spPr>
        <p:txBody>
          <a:bodyPr/>
          <a:lstStyle/>
          <a:p>
            <a:endParaRPr lang="en-KE"/>
          </a:p>
        </p:txBody>
      </p:sp>
      <p:sp>
        <p:nvSpPr>
          <p:cNvPr id="12" name="Text 10"/>
          <p:cNvSpPr/>
          <p:nvPr/>
        </p:nvSpPr>
        <p:spPr>
          <a:xfrm>
            <a:off x="4892040" y="1197864"/>
            <a:ext cx="274320" cy="365760"/>
          </a:xfrm>
          <a:prstGeom prst="rect">
            <a:avLst/>
          </a:prstGeom>
          <a:noFill/>
          <a:ln/>
        </p:spPr>
        <p:txBody>
          <a:bodyPr wrap="square"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5303520" y="1252728"/>
            <a:ext cx="35204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TF-IDF &gt; Word2Vec here</a:t>
            </a:r>
            <a:endParaRPr lang="en-US" sz="1200" dirty="0"/>
          </a:p>
        </p:txBody>
      </p:sp>
      <p:sp>
        <p:nvSpPr>
          <p:cNvPr id="14" name="Text 12"/>
          <p:cNvSpPr/>
          <p:nvPr/>
        </p:nvSpPr>
        <p:spPr>
          <a:xfrm>
            <a:off x="5303520" y="1618488"/>
            <a:ext cx="3520440" cy="10058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For topic classification, exact word matches (TF-IDF) outperform averaged semantic vectors (Word2Vec). The topic name vocabulary is a strong signal.</a:t>
            </a:r>
            <a:endParaRPr lang="en-US" sz="1050" dirty="0"/>
          </a:p>
        </p:txBody>
      </p:sp>
      <p:sp>
        <p:nvSpPr>
          <p:cNvPr id="15" name="Shape 13"/>
          <p:cNvSpPr/>
          <p:nvPr/>
        </p:nvSpPr>
        <p:spPr>
          <a:xfrm>
            <a:off x="457200" y="2971800"/>
            <a:ext cx="4114800" cy="1645920"/>
          </a:xfrm>
          <a:prstGeom prst="rect">
            <a:avLst/>
          </a:prstGeom>
          <a:solidFill>
            <a:srgbClr val="1E293B"/>
          </a:solidFill>
          <a:ln/>
        </p:spPr>
        <p:txBody>
          <a:bodyPr/>
          <a:lstStyle/>
          <a:p>
            <a:endParaRPr lang="en-KE"/>
          </a:p>
        </p:txBody>
      </p:sp>
      <p:sp>
        <p:nvSpPr>
          <p:cNvPr id="16" name="Shape 14"/>
          <p:cNvSpPr/>
          <p:nvPr/>
        </p:nvSpPr>
        <p:spPr>
          <a:xfrm>
            <a:off x="457200" y="2971800"/>
            <a:ext cx="365760" cy="1645920"/>
          </a:xfrm>
          <a:prstGeom prst="rect">
            <a:avLst/>
          </a:prstGeom>
          <a:solidFill>
            <a:srgbClr val="10B981"/>
          </a:solidFill>
          <a:ln w="12700">
            <a:solidFill>
              <a:srgbClr val="10B981"/>
            </a:solidFill>
            <a:prstDash val="solid"/>
          </a:ln>
        </p:spPr>
        <p:txBody>
          <a:bodyPr/>
          <a:lstStyle/>
          <a:p>
            <a:endParaRPr lang="en-KE"/>
          </a:p>
        </p:txBody>
      </p:sp>
      <p:sp>
        <p:nvSpPr>
          <p:cNvPr id="17" name="Text 15"/>
          <p:cNvSpPr/>
          <p:nvPr/>
        </p:nvSpPr>
        <p:spPr>
          <a:xfrm>
            <a:off x="502920" y="3026664"/>
            <a:ext cx="274320" cy="36576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914400" y="3081528"/>
            <a:ext cx="35204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Domain adaptation helps</a:t>
            </a:r>
            <a:endParaRPr lang="en-US" sz="1200" dirty="0"/>
          </a:p>
        </p:txBody>
      </p:sp>
      <p:sp>
        <p:nvSpPr>
          <p:cNvPr id="19" name="Text 17"/>
          <p:cNvSpPr/>
          <p:nvPr/>
        </p:nvSpPr>
        <p:spPr>
          <a:xfrm>
            <a:off x="914400" y="3447288"/>
            <a:ext cx="3520440" cy="10058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MLM pretraining raised BERT from 0.698 → 0.710. Adapting to newsgroup language before classification gives a better starting point.</a:t>
            </a:r>
            <a:endParaRPr lang="en-US" sz="1050" dirty="0"/>
          </a:p>
        </p:txBody>
      </p:sp>
      <p:sp>
        <p:nvSpPr>
          <p:cNvPr id="20" name="Shape 18"/>
          <p:cNvSpPr/>
          <p:nvPr/>
        </p:nvSpPr>
        <p:spPr>
          <a:xfrm>
            <a:off x="4846320" y="2971800"/>
            <a:ext cx="4114800" cy="1645920"/>
          </a:xfrm>
          <a:prstGeom prst="rect">
            <a:avLst/>
          </a:prstGeom>
          <a:solidFill>
            <a:srgbClr val="1E293B"/>
          </a:solidFill>
          <a:ln/>
        </p:spPr>
        <p:txBody>
          <a:bodyPr/>
          <a:lstStyle/>
          <a:p>
            <a:endParaRPr lang="en-KE"/>
          </a:p>
        </p:txBody>
      </p:sp>
      <p:sp>
        <p:nvSpPr>
          <p:cNvPr id="21" name="Shape 19"/>
          <p:cNvSpPr/>
          <p:nvPr/>
        </p:nvSpPr>
        <p:spPr>
          <a:xfrm>
            <a:off x="4846320" y="2971800"/>
            <a:ext cx="365760" cy="1645920"/>
          </a:xfrm>
          <a:prstGeom prst="rect">
            <a:avLst/>
          </a:prstGeom>
          <a:solidFill>
            <a:srgbClr val="F59E0B"/>
          </a:solidFill>
          <a:ln w="12700">
            <a:solidFill>
              <a:srgbClr val="F59E0B"/>
            </a:solidFill>
            <a:prstDash val="solid"/>
          </a:ln>
        </p:spPr>
        <p:txBody>
          <a:bodyPr/>
          <a:lstStyle/>
          <a:p>
            <a:endParaRPr lang="en-KE"/>
          </a:p>
        </p:txBody>
      </p:sp>
      <p:sp>
        <p:nvSpPr>
          <p:cNvPr id="22" name="Text 20"/>
          <p:cNvSpPr/>
          <p:nvPr/>
        </p:nvSpPr>
        <p:spPr>
          <a:xfrm>
            <a:off x="4892040" y="3026664"/>
            <a:ext cx="274320" cy="36576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5303520" y="3081528"/>
            <a:ext cx="35204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Context window is critical</a:t>
            </a:r>
            <a:endParaRPr lang="en-US" sz="1200" dirty="0"/>
          </a:p>
        </p:txBody>
      </p:sp>
      <p:sp>
        <p:nvSpPr>
          <p:cNvPr id="24" name="Text 22"/>
          <p:cNvSpPr/>
          <p:nvPr/>
        </p:nvSpPr>
        <p:spPr>
          <a:xfrm>
            <a:off x="5303520" y="3447288"/>
            <a:ext cx="3520440" cy="1005840"/>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Few-shot improved significantly over zero-shot, reaching 0.430 by providing one labeled example per class. In-context examples meaningfully guide LLMs on fine-grained classification tasks.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B35DED51-854F-3802-947D-AC3A2E8F2D5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7DA7D6-7F99-339F-BFD2-245A30B16207}"/>
              </a:ext>
            </a:extLst>
          </p:cNvPr>
          <p:cNvSpPr/>
          <p:nvPr/>
        </p:nvSpPr>
        <p:spPr>
          <a:xfrm>
            <a:off x="6583680" y="0"/>
            <a:ext cx="2560320" cy="5143500"/>
          </a:xfrm>
          <a:prstGeom prst="rect">
            <a:avLst/>
          </a:prstGeom>
          <a:solidFill>
            <a:srgbClr val="1E293B"/>
          </a:solidFill>
          <a:ln w="12700">
            <a:solidFill>
              <a:srgbClr val="1E293B"/>
            </a:solidFill>
            <a:prstDash val="solid"/>
          </a:ln>
        </p:spPr>
        <p:txBody>
          <a:bodyPr/>
          <a:lstStyle/>
          <a:p>
            <a:endParaRPr lang="en-KE"/>
          </a:p>
        </p:txBody>
      </p:sp>
      <p:sp>
        <p:nvSpPr>
          <p:cNvPr id="3" name="Shape 1">
            <a:extLst>
              <a:ext uri="{FF2B5EF4-FFF2-40B4-BE49-F238E27FC236}">
                <a16:creationId xmlns:a16="http://schemas.microsoft.com/office/drawing/2014/main" id="{9FDA79D9-9456-B7C7-F7F3-55A65D2480F8}"/>
              </a:ext>
            </a:extLst>
          </p:cNvPr>
          <p:cNvSpPr/>
          <p:nvPr/>
        </p:nvSpPr>
        <p:spPr>
          <a:xfrm>
            <a:off x="988906" y="2866813"/>
            <a:ext cx="4311227" cy="45720"/>
          </a:xfrm>
          <a:prstGeom prst="rect">
            <a:avLst/>
          </a:prstGeom>
          <a:solidFill>
            <a:srgbClr val="3B82F6"/>
          </a:solidFill>
          <a:ln w="12700">
            <a:solidFill>
              <a:srgbClr val="3B82F6"/>
            </a:solidFill>
            <a:prstDash val="solid"/>
          </a:ln>
        </p:spPr>
        <p:txBody>
          <a:bodyPr/>
          <a:lstStyle/>
          <a:p>
            <a:endParaRPr lang="en-KE"/>
          </a:p>
        </p:txBody>
      </p:sp>
      <p:sp>
        <p:nvSpPr>
          <p:cNvPr id="4" name="Text 2">
            <a:extLst>
              <a:ext uri="{FF2B5EF4-FFF2-40B4-BE49-F238E27FC236}">
                <a16:creationId xmlns:a16="http://schemas.microsoft.com/office/drawing/2014/main" id="{53F49024-9D59-3FF7-9CCC-A72A87247976}"/>
              </a:ext>
            </a:extLst>
          </p:cNvPr>
          <p:cNvSpPr/>
          <p:nvPr/>
        </p:nvSpPr>
        <p:spPr>
          <a:xfrm>
            <a:off x="1276773" y="1668780"/>
            <a:ext cx="5760720" cy="82296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Tree>
    <p:extLst>
      <p:ext uri="{BB962C8B-B14F-4D97-AF65-F5344CB8AC3E}">
        <p14:creationId xmlns:p14="http://schemas.microsoft.com/office/powerpoint/2010/main" val="3601193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2380</Words>
  <Application>Microsoft Office PowerPoint</Application>
  <PresentationFormat>On-screen Show (16:9)</PresentationFormat>
  <Paragraphs>235</Paragraphs>
  <Slides>15</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Gichuki Cynthia I.MSCITDS.2501</cp:lastModifiedBy>
  <cp:revision>3</cp:revision>
  <dcterms:created xsi:type="dcterms:W3CDTF">2026-05-21T05:53:11Z</dcterms:created>
  <dcterms:modified xsi:type="dcterms:W3CDTF">2026-05-21T10:46:58Z</dcterms:modified>
</cp:coreProperties>
</file>